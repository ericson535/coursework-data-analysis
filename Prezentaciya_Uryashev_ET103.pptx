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0" y="-457200"/>
            <a:ext cx="2743200" cy="2743200"/>
          </a:xfrm>
          <a:prstGeom prst="ellipse">
            <a:avLst/>
          </a:prstGeom>
          <a:solidFill>
            <a:srgbClr val="283593"/>
          </a:solidFill>
          <a:ln/>
        </p:spPr>
      </p:sp>
      <p:sp>
        <p:nvSpPr>
          <p:cNvPr id="4" name="Shape 2"/>
          <p:cNvSpPr/>
          <p:nvPr/>
        </p:nvSpPr>
        <p:spPr>
          <a:xfrm>
            <a:off x="-731520" y="3474720"/>
            <a:ext cx="2286000" cy="2286000"/>
          </a:xfrm>
          <a:prstGeom prst="ellipse">
            <a:avLst/>
          </a:prstGeom>
          <a:solidFill>
            <a:srgbClr val="283593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"/>
            <a:ext cx="80467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и первичный анализ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наборов данных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48640" y="219456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2A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различным областям применения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834640"/>
            <a:ext cx="3657600" cy="0"/>
          </a:xfrm>
          <a:prstGeom prst="line">
            <a:avLst/>
          </a:prstGeom>
          <a:noFill/>
          <a:ln w="25400">
            <a:solidFill>
              <a:srgbClr val="42A5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017520"/>
            <a:ext cx="6400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Автор: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Уряшев Кирилл Александрович,  ЕТ-103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Руководитель: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Паршукова Н.Б., к.п.н., доцент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ЮУрГУ (НИУ), Центр «ВиртУм», 2026 г.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0" y="480060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BFF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243584" cy="292608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243584" cy="2926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ВВЕДЕНИЕ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 работы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5760" y="1280160"/>
            <a:ext cx="4114800" cy="1554480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37160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📊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38912" y="1874520"/>
            <a:ext cx="3968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данных → качество модели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38912" y="2240280"/>
            <a:ext cx="3968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Алам и Яо [1]: предобработка текстов повышает точность классификаторов на 5–15%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114800" cy="1554480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137160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⚖️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36592" y="1874520"/>
            <a:ext cx="3968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Дисбаланс классов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36592" y="2240280"/>
            <a:ext cx="3968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Хи и Гарсиа [2]: методы балансировки улучшают F1-меру на 30% и более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2971800"/>
            <a:ext cx="4114800" cy="1554480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30632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📈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438912" y="3566160"/>
            <a:ext cx="3968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Временные ряды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38912" y="3931920"/>
            <a:ext cx="3968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Бокс и др. [3]: качество предобработки рядов напрямую влияет на точность прогноза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2971800"/>
            <a:ext cx="4114800" cy="155448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19" name="Text 17"/>
          <p:cNvSpPr/>
          <p:nvPr/>
        </p:nvSpPr>
        <p:spPr>
          <a:xfrm>
            <a:off x="4663440" y="30632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🎯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736592" y="3566160"/>
            <a:ext cx="3968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курсового проекта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736592" y="3931920"/>
            <a:ext cx="3968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Первичный анализ 4 датасетов разных типов с реализацией на Python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412480" y="480060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BFF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1243584" cy="292608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1243584" cy="2926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ВВЕДЕНИЕ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и задачи проекта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365760" y="1188720"/>
            <a:ext cx="8412480" cy="594360"/>
          </a:xfrm>
          <a:prstGeom prst="rect">
            <a:avLst/>
          </a:prstGeom>
          <a:solidFill>
            <a:srgbClr val="42A5F5"/>
          </a:solidFill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Цель: получение практических навыков поиска и первичного анализа наборов данных разных типов для задач ИИ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92024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Сформулировать описание задачи ИИ для каждого типа данных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Подобрать датасеты из авторитетных открытых источников (Kaggle)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Реализовать первичный анализ на Python: загрузка, статистика, визуализация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Сформулировать выводы о качестве данных и пригодности для обучения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Разместить исходный код в репозитории Git (GitHub)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0" y="480060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Выбранные датасеты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8412480" cy="65836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23444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68680" y="1234440"/>
            <a:ext cx="18288" cy="65836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1234440"/>
            <a:ext cx="1371600" cy="6583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Табличные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86000" y="1234440"/>
            <a:ext cx="4114800" cy="6583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Happiness Report 2021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0" y="1234440"/>
            <a:ext cx="2377440" cy="6583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 стран, 20 признаков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130552"/>
            <a:ext cx="8412480" cy="65836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2130552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68680" y="2130552"/>
            <a:ext cx="18288" cy="65836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3" name="Text 11"/>
          <p:cNvSpPr/>
          <p:nvPr/>
        </p:nvSpPr>
        <p:spPr>
          <a:xfrm>
            <a:off x="896112" y="2130552"/>
            <a:ext cx="1371600" cy="6583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Врем. ряды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286000" y="2130552"/>
            <a:ext cx="4114800" cy="6583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Activity Recognition (HAR)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0" y="2130552"/>
            <a:ext cx="2377440" cy="6583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10 299 записей, 561 признак, 6 классов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026664"/>
            <a:ext cx="8412480" cy="65836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3026664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68680" y="3026664"/>
            <a:ext cx="18288" cy="65836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3026664"/>
            <a:ext cx="1371600" cy="6583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Изображения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286000" y="3026664"/>
            <a:ext cx="4114800" cy="6583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X-Ray Pneumonia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3026664"/>
            <a:ext cx="2377440" cy="6583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5 856 рентгенов, 2 класса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3922776"/>
            <a:ext cx="8412480" cy="65836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3922776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868680" y="3922776"/>
            <a:ext cx="18288" cy="658368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5" name="Text 23"/>
          <p:cNvSpPr/>
          <p:nvPr/>
        </p:nvSpPr>
        <p:spPr>
          <a:xfrm>
            <a:off x="896112" y="3922776"/>
            <a:ext cx="1371600" cy="6583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286000" y="3922776"/>
            <a:ext cx="4114800" cy="6583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BBC News Classification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0" y="3922776"/>
            <a:ext cx="2377440" cy="6583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3F2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2 225 статей, 5 категорий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412480" y="480060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2A5F5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7315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2A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Первичный анализ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табличных данных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2A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Happiness Report 2021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97280" y="3520440"/>
            <a:ext cx="6949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Задача: регрессия — предсказание индекса счастья по социально-экономическим показателям 149 стран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0" y="480060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5/26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BFF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2450592" cy="2926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2450592" cy="2926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1 — ТАБЛИЧНЫЕ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Датасет: World Happiness Report 2021</a:t>
            </a:r>
            <a:endParaRPr lang="en-US" sz="2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88720"/>
          <a:ext cx="84124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6126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565C0"/>
                          </a:solidFill>
                        </a:rPr>
                        <a:t>Источник</a:t>
                      </a:r>
                      <a:endParaRPr lang="en-US" sz="1200" dirty="0"/>
                    </a:p>
                  </a:txBody>
                  <a:tcPr marL="76200" marR="76200" marT="762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3238"/>
                          </a:solidFill>
                        </a:rPr>
                        <a:t>Kaggle (mathurinache) / UN SDSN</a:t>
                      </a:r>
                      <a:endParaRPr lang="en-US" sz="1200" dirty="0"/>
                    </a:p>
                  </a:txBody>
                  <a:tcPr marL="76200" marR="76200" marT="762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565C0"/>
                          </a:solidFill>
                        </a:rPr>
                        <a:t>Объём</a:t>
                      </a:r>
                      <a:endParaRPr lang="en-US" sz="1200" dirty="0"/>
                    </a:p>
                  </a:txBody>
                  <a:tcPr marL="76200" marR="76200" marT="762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BBDE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3238"/>
                          </a:solidFill>
                        </a:rPr>
                        <a:t>149 стран × 20 признаков</a:t>
                      </a:r>
                      <a:endParaRPr lang="en-US" sz="1200" dirty="0"/>
                    </a:p>
                  </a:txBody>
                  <a:tcPr marL="76200" marR="76200" marT="762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EEE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565C0"/>
                          </a:solidFill>
                        </a:rPr>
                        <a:t>Целевой признак</a:t>
                      </a:r>
                      <a:endParaRPr lang="en-US" sz="1200" dirty="0"/>
                    </a:p>
                  </a:txBody>
                  <a:tcPr marL="76200" marR="76200" marT="762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3238"/>
                          </a:solidFill>
                        </a:rPr>
                        <a:t>Ladder Score (0–10)</a:t>
                      </a:r>
                      <a:endParaRPr lang="en-US" sz="1200" dirty="0"/>
                    </a:p>
                  </a:txBody>
                  <a:tcPr marL="76200" marR="76200" marT="762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565C0"/>
                          </a:solidFill>
                        </a:rPr>
                        <a:t>Ключевые признаки</a:t>
                      </a:r>
                      <a:endParaRPr lang="en-US" sz="1200" dirty="0"/>
                    </a:p>
                  </a:txBody>
                  <a:tcPr marL="76200" marR="76200" marT="762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BBDE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3238"/>
                          </a:solidFill>
                        </a:rPr>
                        <a:t>ВВП (log), социальная поддержка, продолжительность жизни, свобода, щедрость, коррупция</a:t>
                      </a:r>
                      <a:endParaRPr lang="en-US" sz="1200" dirty="0"/>
                    </a:p>
                  </a:txBody>
                  <a:tcPr marL="76200" marR="76200" marT="762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EEE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565C0"/>
                          </a:solidFill>
                        </a:rPr>
                        <a:t>Пропуски</a:t>
                      </a:r>
                      <a:endParaRPr lang="en-US" sz="1200" dirty="0"/>
                    </a:p>
                  </a:txBody>
                  <a:tcPr marL="76200" marR="76200" marT="762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3238"/>
                          </a:solidFill>
                        </a:rPr>
                        <a:t>Отсутствуют в ключевых признаках</a:t>
                      </a:r>
                      <a:endParaRPr lang="en-US" sz="1200" dirty="0"/>
                    </a:p>
                  </a:txBody>
                  <a:tcPr marL="76200" marR="76200" marT="762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565C0"/>
                          </a:solidFill>
                        </a:rPr>
                        <a:t>Лицензия</a:t>
                      </a:r>
                      <a:endParaRPr lang="en-US" sz="1200" dirty="0"/>
                    </a:p>
                  </a:txBody>
                  <a:tcPr marL="76200" marR="76200" marT="762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BBDE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3238"/>
                          </a:solidFill>
                        </a:rPr>
                        <a:t>CC0 (Public Domain)</a:t>
                      </a:r>
                      <a:endParaRPr lang="en-US" sz="1200" dirty="0"/>
                    </a:p>
                  </a:txBody>
                  <a:tcPr marL="76200" marR="76200" marT="762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EEEE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8412480" y="480060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6/26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BFF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2450592" cy="2926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2450592" cy="2926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1 — ТАБЛИЧНЫЕ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Статистика и распределения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1828800" cy="1097280"/>
          </a:xfrm>
          <a:prstGeom prst="rect">
            <a:avLst/>
          </a:prstGeom>
          <a:solidFill>
            <a:srgbClr val="43A047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30759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7.84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1837944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Макс. счастье (Финляндия)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331720" y="1234440"/>
            <a:ext cx="1828800" cy="1097280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10" name="Text 8"/>
          <p:cNvSpPr/>
          <p:nvPr/>
        </p:nvSpPr>
        <p:spPr>
          <a:xfrm>
            <a:off x="2331720" y="130759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331720" y="1837944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Мин. счастье (Афганистан)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97680" y="1234440"/>
            <a:ext cx="1828800" cy="1097280"/>
          </a:xfrm>
          <a:prstGeom prst="rect">
            <a:avLst/>
          </a:prstGeom>
          <a:solidFill>
            <a:srgbClr val="1E88E5"/>
          </a:solidFill>
          <a:ln/>
        </p:spPr>
      </p:sp>
      <p:sp>
        <p:nvSpPr>
          <p:cNvPr id="13" name="Text 11"/>
          <p:cNvSpPr/>
          <p:nvPr/>
        </p:nvSpPr>
        <p:spPr>
          <a:xfrm>
            <a:off x="4297680" y="130759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297680" y="1837944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Среднее по миру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63640" y="1234440"/>
            <a:ext cx="2331720" cy="1097280"/>
          </a:xfrm>
          <a:prstGeom prst="rect">
            <a:avLst/>
          </a:prstGeom>
          <a:solidFill>
            <a:srgbClr val="8E24AA"/>
          </a:solidFill>
          <a:ln/>
        </p:spPr>
      </p:sp>
      <p:sp>
        <p:nvSpPr>
          <p:cNvPr id="16" name="Text 14"/>
          <p:cNvSpPr/>
          <p:nvPr/>
        </p:nvSpPr>
        <p:spPr>
          <a:xfrm>
            <a:off x="6263640" y="1307592"/>
            <a:ext cx="2331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1.12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263640" y="1837944"/>
            <a:ext cx="2331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Ст. откл. индекса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5760" y="251460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Распределение: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Индекс счастья ≈ нормальное с лёгким левым скосом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Признак "generosity" — острый пик у нуля, правый хвост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Признак "corruption" — сильно правоскошен (большинство 0.1–0.15)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"GDP" и "life_expectancy" близки к нормальному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412480" y="480060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7/26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BFF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2450592" cy="2926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2450592" cy="2926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1 — ТАБЛИЧНЫЕ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Корреляционный анализ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365760" y="12801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ВВП на душу населения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83280" y="1325880"/>
            <a:ext cx="3922776" cy="320040"/>
          </a:xfrm>
          <a:prstGeom prst="rect">
            <a:avLst/>
          </a:prstGeom>
          <a:solidFill>
            <a:srgbClr val="1E88E5"/>
          </a:solidFill>
          <a:ln/>
        </p:spPr>
      </p:sp>
      <p:sp>
        <p:nvSpPr>
          <p:cNvPr id="8" name="Text 6"/>
          <p:cNvSpPr/>
          <p:nvPr/>
        </p:nvSpPr>
        <p:spPr>
          <a:xfrm>
            <a:off x="7397496" y="128016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8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0.78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82880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Продолжительность жизни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83280" y="1874520"/>
            <a:ext cx="3872484" cy="320040"/>
          </a:xfrm>
          <a:prstGeom prst="rect">
            <a:avLst/>
          </a:prstGeom>
          <a:solidFill>
            <a:srgbClr val="43A047"/>
          </a:solidFill>
          <a:ln/>
        </p:spPr>
      </p:sp>
      <p:sp>
        <p:nvSpPr>
          <p:cNvPr id="11" name="Text 9"/>
          <p:cNvSpPr/>
          <p:nvPr/>
        </p:nvSpPr>
        <p:spPr>
          <a:xfrm>
            <a:off x="7347204" y="18288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0.77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23774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Социальная поддержка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383280" y="2423160"/>
            <a:ext cx="3671316" cy="320040"/>
          </a:xfrm>
          <a:prstGeom prst="rect">
            <a:avLst/>
          </a:prstGeom>
          <a:solidFill>
            <a:srgbClr val="8E24AA"/>
          </a:solidFill>
          <a:ln/>
        </p:spPr>
      </p:sp>
      <p:sp>
        <p:nvSpPr>
          <p:cNvPr id="14" name="Text 12"/>
          <p:cNvSpPr/>
          <p:nvPr/>
        </p:nvSpPr>
        <p:spPr>
          <a:xfrm>
            <a:off x="7146036" y="237744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E2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0.73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292608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Свобода выбора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383280" y="2971800"/>
            <a:ext cx="2866644" cy="320040"/>
          </a:xfrm>
          <a:prstGeom prst="rect">
            <a:avLst/>
          </a:prstGeom>
          <a:solidFill>
            <a:srgbClr val="FB8C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1364" y="292608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0.57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5760" y="347472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Восприятие коррупции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383280" y="3520440"/>
            <a:ext cx="2212848" cy="320040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20" name="Text 18"/>
          <p:cNvSpPr/>
          <p:nvPr/>
        </p:nvSpPr>
        <p:spPr>
          <a:xfrm>
            <a:off x="5687568" y="347472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0.44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5760" y="40233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Щедрость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383280" y="4069080"/>
            <a:ext cx="754380" cy="320040"/>
          </a:xfrm>
          <a:prstGeom prst="rect">
            <a:avLst/>
          </a:prstGeom>
          <a:solidFill>
            <a:srgbClr val="546E7A"/>
          </a:solidFill>
          <a:ln/>
        </p:spPr>
      </p:sp>
      <p:sp>
        <p:nvSpPr>
          <p:cNvPr id="23" name="Text 21"/>
          <p:cNvSpPr/>
          <p:nvPr/>
        </p:nvSpPr>
        <p:spPr>
          <a:xfrm>
            <a:off x="4229100" y="402336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0.15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65760" y="4663440"/>
            <a:ext cx="8412480" cy="347472"/>
          </a:xfrm>
          <a:prstGeom prst="rect">
            <a:avLst/>
          </a:prstGeom>
          <a:solidFill>
            <a:srgbClr val="FFEBEE"/>
          </a:solidFill>
          <a:ln/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Мультиколлинеарность: ВВП ↔ продолж. жизни (r = 0.85) — нужна регуляризация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412480" y="480060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8/26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BFF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2450592" cy="2926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2450592" cy="2926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1 — ТАБЛИЧНЫЕ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Топ стран и региональный анализ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365760" y="11887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Топ-5 счастливых стран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600200"/>
            <a:ext cx="2724180" cy="384048"/>
          </a:xfrm>
          <a:prstGeom prst="rect">
            <a:avLst/>
          </a:prstGeom>
          <a:solidFill>
            <a:srgbClr val="43A047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002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Финляндия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181380" y="160020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7.84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121408"/>
            <a:ext cx="2623414" cy="384048"/>
          </a:xfrm>
          <a:prstGeom prst="rect">
            <a:avLst/>
          </a:prstGeom>
          <a:solidFill>
            <a:srgbClr val="43A047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12140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Исландия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080614" y="212140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7.55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642616"/>
            <a:ext cx="2612989" cy="384048"/>
          </a:xfrm>
          <a:prstGeom prst="rect">
            <a:avLst/>
          </a:prstGeom>
          <a:solidFill>
            <a:srgbClr val="43A04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6426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Дания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070189" y="264261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7.52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163824"/>
            <a:ext cx="2609515" cy="384048"/>
          </a:xfrm>
          <a:prstGeom prst="rect">
            <a:avLst/>
          </a:prstGeom>
          <a:solidFill>
            <a:srgbClr val="43A047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316382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Швейцария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066715" y="3163824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7.51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3685032"/>
            <a:ext cx="2592141" cy="384048"/>
          </a:xfrm>
          <a:prstGeom prst="rect">
            <a:avLst/>
          </a:prstGeom>
          <a:solidFill>
            <a:srgbClr val="43A047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368503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Нидерланды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049341" y="368503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7.46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0" y="118872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Средний индекс по регионам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0" y="1600200"/>
            <a:ext cx="2453640" cy="384048"/>
          </a:xfrm>
          <a:prstGeom prst="rect">
            <a:avLst/>
          </a:prstGeom>
          <a:solidFill>
            <a:srgbClr val="43A047"/>
          </a:solidFill>
          <a:ln/>
        </p:spPr>
      </p:sp>
      <p:sp>
        <p:nvSpPr>
          <p:cNvPr id="24" name="Text 22"/>
          <p:cNvSpPr/>
          <p:nvPr/>
        </p:nvSpPr>
        <p:spPr>
          <a:xfrm>
            <a:off x="4663440" y="16002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Зап. Европа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117080" y="160020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0" y="2121408"/>
            <a:ext cx="2524760" cy="384048"/>
          </a:xfrm>
          <a:prstGeom prst="rect">
            <a:avLst/>
          </a:prstGeom>
          <a:solidFill>
            <a:srgbClr val="1E88E5"/>
          </a:solidFill>
          <a:ln/>
        </p:spPr>
      </p:sp>
      <p:sp>
        <p:nvSpPr>
          <p:cNvPr id="27" name="Text 25"/>
          <p:cNvSpPr/>
          <p:nvPr/>
        </p:nvSpPr>
        <p:spPr>
          <a:xfrm>
            <a:off x="4663440" y="212140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С. Америка / Австралия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88200" y="2121408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8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0" y="2642616"/>
            <a:ext cx="2062480" cy="384048"/>
          </a:xfrm>
          <a:prstGeom prst="rect">
            <a:avLst/>
          </a:prstGeom>
          <a:solidFill>
            <a:srgbClr val="8E24AA"/>
          </a:solidFill>
          <a:ln/>
        </p:spPr>
      </p:sp>
      <p:sp>
        <p:nvSpPr>
          <p:cNvPr id="30" name="Text 28"/>
          <p:cNvSpPr/>
          <p:nvPr/>
        </p:nvSpPr>
        <p:spPr>
          <a:xfrm>
            <a:off x="4663440" y="2642616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Вост. Азия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725920" y="2642616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2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0" y="3163824"/>
            <a:ext cx="1877568" cy="384048"/>
          </a:xfrm>
          <a:prstGeom prst="rect">
            <a:avLst/>
          </a:prstGeom>
          <a:solidFill>
            <a:srgbClr val="FB8C00"/>
          </a:solidFill>
          <a:ln/>
        </p:spPr>
      </p:sp>
      <p:sp>
        <p:nvSpPr>
          <p:cNvPr id="33" name="Text 31"/>
          <p:cNvSpPr/>
          <p:nvPr/>
        </p:nvSpPr>
        <p:spPr>
          <a:xfrm>
            <a:off x="4663440" y="316382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СНГ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541008" y="3163824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5.28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0" y="3685032"/>
            <a:ext cx="1564640" cy="384048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36" name="Text 34"/>
          <p:cNvSpPr/>
          <p:nvPr/>
        </p:nvSpPr>
        <p:spPr>
          <a:xfrm>
            <a:off x="4663440" y="368503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Африка (юг Сахары)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28080" y="3685032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412480" y="480060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9/26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BFF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2011680" cy="2926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2011680" cy="2926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1 — ВЫВОД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Выводы по главе 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365760" y="1188720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✅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12344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Пропущенные значения в ключевых признаках отсутствуют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810512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185623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Большинство признаков близки к нормальному распределению; "generosity" — правоскошен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2432304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🔗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2478024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Наивысшая корреляция с индексом счастья: ВВП (r=0.78), продолж. жизни (r=0.77)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3054096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⚠️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3099816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Мультиколлинеарность: ВВП ↔ продолж. жизни (r=0.85) — требует Ridge / PCA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5760" y="3675888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🌍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14400" y="3721608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Значительные межрегиональные различия (Сев. Европа vs Африка южнее Сахары)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" y="4297680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🎯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14400" y="43434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Датасет пригоден для регрессии и кластеризации без дополнительной подготовки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412480" y="480060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10/26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66BB6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7315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B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Первичный анализ данных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временными рядами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2A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Activity Recognition (HAR) — UCI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5204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Задача: классификация — определить вид физической активности по сигналам акселерометра смартфона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0" y="480060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11/26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BFF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2999232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2999232" cy="2926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2 — ВРЕМЕННЫЕ РЯДЫ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Датасет: HAR (UCI)</a:t>
            </a:r>
            <a:endParaRPr lang="en-US" sz="2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88720"/>
          <a:ext cx="84124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6126480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</a:rPr>
                        <a:t>Источник</a:t>
                      </a:r>
                      <a:endParaRPr lang="en-US" sz="1100" dirty="0"/>
                    </a:p>
                  </a:txBody>
                  <a:tcPr marL="63500" marR="63500" marT="63500" marB="635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3238"/>
                          </a:solidFill>
                        </a:rPr>
                        <a:t>Kaggle (uciml) / UCI Machine Learning Repository</a:t>
                      </a:r>
                      <a:endParaRPr lang="en-US" sz="1100" dirty="0"/>
                    </a:p>
                  </a:txBody>
                  <a:tcPr marL="63500" marR="63500" marT="63500" marB="635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</a:rPr>
                        <a:t>Объём</a:t>
                      </a:r>
                      <a:endParaRPr lang="en-US" sz="1100" dirty="0"/>
                    </a:p>
                  </a:txBody>
                  <a:tcPr marL="63500" marR="63500" marT="63500" marB="635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3238"/>
                          </a:solidFill>
                        </a:rPr>
                        <a:t>10 299 записей × 561 признак</a:t>
                      </a:r>
                      <a:endParaRPr lang="en-US" sz="1100" dirty="0"/>
                    </a:p>
                  </a:txBody>
                  <a:tcPr marL="63500" marR="63500" marT="63500" marB="635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EEEE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</a:rPr>
                        <a:t>Число классов</a:t>
                      </a:r>
                      <a:endParaRPr lang="en-US" sz="1100" dirty="0"/>
                    </a:p>
                  </a:txBody>
                  <a:tcPr marL="63500" marR="63500" marT="63500" marB="635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3238"/>
                          </a:solidFill>
                        </a:rPr>
                        <a:t>6: WALKING, WALKING_UPSTAIRS, WALKING_DOWNSTAIRS, SITTING, STANDING, LAYING</a:t>
                      </a:r>
                      <a:endParaRPr lang="en-US" sz="1100" dirty="0"/>
                    </a:p>
                  </a:txBody>
                  <a:tcPr marL="63500" marR="63500" marT="63500" marB="635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</a:rPr>
                        <a:t>Испытуемые</a:t>
                      </a:r>
                      <a:endParaRPr lang="en-US" sz="1100" dirty="0"/>
                    </a:p>
                  </a:txBody>
                  <a:tcPr marL="63500" marR="63500" marT="63500" marB="635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3238"/>
                          </a:solidFill>
                        </a:rPr>
                        <a:t>30 человек, возраст 19–48 лет</a:t>
                      </a:r>
                      <a:endParaRPr lang="en-US" sz="1100" dirty="0"/>
                    </a:p>
                  </a:txBody>
                  <a:tcPr marL="63500" marR="63500" marT="63500" marB="635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EEEE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</a:rPr>
                        <a:t>Сенсоры</a:t>
                      </a:r>
                      <a:endParaRPr lang="en-US" sz="1100" dirty="0"/>
                    </a:p>
                  </a:txBody>
                  <a:tcPr marL="63500" marR="63500" marT="63500" marB="635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3238"/>
                          </a:solidFill>
                        </a:rPr>
                        <a:t>Samsung Galaxy S II: акселерометр + гироскоп, 50 Гц</a:t>
                      </a:r>
                      <a:endParaRPr lang="en-US" sz="1100" dirty="0"/>
                    </a:p>
                  </a:txBody>
                  <a:tcPr marL="63500" marR="63500" marT="63500" marB="635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</a:rPr>
                        <a:t>Нормировка</a:t>
                      </a:r>
                      <a:endParaRPr lang="en-US" sz="1100" dirty="0"/>
                    </a:p>
                  </a:txBody>
                  <a:tcPr marL="63500" marR="63500" marT="63500" marB="635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8E6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3238"/>
                          </a:solidFill>
                        </a:rPr>
                        <a:t>Все признаки нормированы в диапазон [-1, 1]</a:t>
                      </a:r>
                      <a:endParaRPr lang="en-US" sz="1100" dirty="0"/>
                    </a:p>
                  </a:txBody>
                  <a:tcPr marL="63500" marR="63500" marT="63500" marB="635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EEEE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</a:rPr>
                        <a:t>Лицензия</a:t>
                      </a:r>
                      <a:endParaRPr lang="en-US" sz="1100" dirty="0"/>
                    </a:p>
                  </a:txBody>
                  <a:tcPr marL="63500" marR="63500" marT="63500" marB="635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3238"/>
                          </a:solidFill>
                        </a:rPr>
                        <a:t>CC BY 4.0</a:t>
                      </a:r>
                      <a:endParaRPr lang="en-US" sz="1100" dirty="0"/>
                    </a:p>
                  </a:txBody>
                  <a:tcPr marL="63500" marR="63500" marT="63500" marB="635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8412480" y="480060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12/26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BFF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2999232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2999232" cy="2926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2 — ВРЕМЕННЫЕ РЯДЫ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Распределение классов и статистика признаков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365760" y="1280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240280" y="1344168"/>
            <a:ext cx="3239911" cy="338328"/>
          </a:xfrm>
          <a:prstGeom prst="rect">
            <a:avLst/>
          </a:prstGeom>
          <a:solidFill>
            <a:srgbClr val="43A047"/>
          </a:solidFill>
          <a:ln/>
        </p:spPr>
      </p:sp>
      <p:sp>
        <p:nvSpPr>
          <p:cNvPr id="8" name="Text 6"/>
          <p:cNvSpPr/>
          <p:nvPr/>
        </p:nvSpPr>
        <p:spPr>
          <a:xfrm>
            <a:off x="5571631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1722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847088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WALKING_UP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40280" y="1911096"/>
            <a:ext cx="2905007" cy="338328"/>
          </a:xfrm>
          <a:prstGeom prst="rect">
            <a:avLst/>
          </a:prstGeom>
          <a:solidFill>
            <a:srgbClr val="66BB6A"/>
          </a:solidFill>
          <a:ln/>
        </p:spPr>
      </p:sp>
      <p:sp>
        <p:nvSpPr>
          <p:cNvPr id="11" name="Text 9"/>
          <p:cNvSpPr/>
          <p:nvPr/>
        </p:nvSpPr>
        <p:spPr>
          <a:xfrm>
            <a:off x="5236727" y="1847088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6B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1544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2414016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WALKING_DOWN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240280" y="2478024"/>
            <a:ext cx="2647244" cy="338328"/>
          </a:xfrm>
          <a:prstGeom prst="rect">
            <a:avLst/>
          </a:prstGeom>
          <a:solidFill>
            <a:srgbClr val="81C784"/>
          </a:solidFill>
          <a:ln/>
        </p:spPr>
      </p:sp>
      <p:sp>
        <p:nvSpPr>
          <p:cNvPr id="14" name="Text 12"/>
          <p:cNvSpPr/>
          <p:nvPr/>
        </p:nvSpPr>
        <p:spPr>
          <a:xfrm>
            <a:off x="4978964" y="2414016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1C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1407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980944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SITTING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240280" y="3044952"/>
            <a:ext cx="3343393" cy="338328"/>
          </a:xfrm>
          <a:prstGeom prst="rect">
            <a:avLst/>
          </a:prstGeom>
          <a:solidFill>
            <a:srgbClr val="1E88E5"/>
          </a:solidFill>
          <a:ln/>
        </p:spPr>
      </p:sp>
      <p:sp>
        <p:nvSpPr>
          <p:cNvPr id="17" name="Text 15"/>
          <p:cNvSpPr/>
          <p:nvPr/>
        </p:nvSpPr>
        <p:spPr>
          <a:xfrm>
            <a:off x="5675113" y="2980944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8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1777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5760" y="3547872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240280" y="3611880"/>
            <a:ext cx="3586104" cy="338328"/>
          </a:xfrm>
          <a:prstGeom prst="rect">
            <a:avLst/>
          </a:prstGeom>
          <a:solidFill>
            <a:srgbClr val="42A5F5"/>
          </a:solidFill>
          <a:ln/>
        </p:spPr>
      </p:sp>
      <p:sp>
        <p:nvSpPr>
          <p:cNvPr id="20" name="Text 18"/>
          <p:cNvSpPr/>
          <p:nvPr/>
        </p:nvSpPr>
        <p:spPr>
          <a:xfrm>
            <a:off x="5917824" y="3547872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2A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1906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41148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LAYING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240280" y="4178808"/>
            <a:ext cx="3657600" cy="338328"/>
          </a:xfrm>
          <a:prstGeom prst="rect">
            <a:avLst/>
          </a:prstGeom>
          <a:solidFill>
            <a:srgbClr val="90CAF9"/>
          </a:solidFill>
          <a:ln/>
        </p:spPr>
      </p:sp>
      <p:sp>
        <p:nvSpPr>
          <p:cNvPr id="23" name="Text 21"/>
          <p:cNvSpPr/>
          <p:nvPr/>
        </p:nvSpPr>
        <p:spPr>
          <a:xfrm>
            <a:off x="5989320" y="411480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54880" y="1188720"/>
            <a:ext cx="40233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наблюдения: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561 признак нормирован в [-1, 1], пропусков нет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Умеренный дисбаланс: WALKING_DOWN (1407) vs LAYING (1944)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tBodyAcc-mean-X: LAYING ≈ 0.98, WALKING ≈ 0.27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412480" y="480060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13/26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BFF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2999232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2999232" cy="2926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2 — ВРЕМЕННЫЕ РЯДЫ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Автокорреляция и частотный анализ (FFT)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4114800" cy="356616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298448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Автокорреляционная функция (ACF)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755648"/>
            <a:ext cx="384048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Динамические активности (WALKING, WALKING_UP, WALKING_DOWN):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Значимые пики ACF при лагах 10–20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Период шага ≈ 0.4 с (шаговая частота 2.5 Гц)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Статические активности (SITTING, STANDING, LAYING):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ACF быстро убывает до нуля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Характерно для белого шума / стационарного процесса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234440"/>
            <a:ext cx="4114800" cy="356616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1298448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Спектральный анализ (БПФ)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54880" y="1755648"/>
            <a:ext cx="384048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Ходьба (WALKING):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Доминирующие частоты 1–3 Гц (шаговая частота)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LAYING: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Плоский спектр (высокая стационарность)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(2 компоненты ≈ 55% дисперсии):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Статические классы хорошо разделяются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Динамические — частично перекрываются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412480" y="480060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14/26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BFF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2011680" cy="2926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2011680" cy="2926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2 — ВЫВОД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Выводы по главе 2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365760" y="1280160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✅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60120" y="132588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561 признак нормированы в [-1, 1], пропусков нет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975104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📊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60120" y="2020824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Умеренный дисбаланс классов (коэфф. 1.35) — дополнительные меры не требуются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2670048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🌊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60120" y="2715768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Динамические активности: периодические структуры ACF, доминирующие частоты 1–3 Гц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3364992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📍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60120" y="3410712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PCA-проекция: статические классы хорошо разделены, динамические — частично перекрываются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5760" y="4059936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🎯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4105656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Датасет пригоден для SVM, Random Forest, LSTM без дополнительной предобработки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412480" y="480060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AB47B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7315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B4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Первичный анализ данных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изображениями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2A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X-Ray Images (Pneumonia)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5204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Задача: бинарная классификация рентгеновских снимков — NORMAL vs PNEUMONIA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0" y="480060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16/26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BFF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2670048" cy="2926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2670048" cy="2926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3 — ИЗОБРАЖЕНИЯ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Датасет и распределение классов</a:t>
            </a:r>
            <a:endParaRPr lang="en-US" sz="2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88720"/>
          <a:ext cx="84124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8521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A1B9A"/>
                          </a:solidFill>
                        </a:rPr>
                        <a:t>Источник</a:t>
                      </a:r>
                      <a:endParaRPr lang="en-US" sz="1100" dirty="0"/>
                    </a:p>
                  </a:txBody>
                  <a:tcPr marL="63500" marR="63500" marT="63500" marB="635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E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3238"/>
                          </a:solidFill>
                        </a:rPr>
                        <a:t>Kaggle (paultimothymooney) / Guangzhou Women's Hospital</a:t>
                      </a:r>
                      <a:endParaRPr lang="en-US" sz="1100" dirty="0"/>
                    </a:p>
                  </a:txBody>
                  <a:tcPr marL="63500" marR="63500" marT="63500" marB="635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A1B9A"/>
                          </a:solidFill>
                        </a:rPr>
                        <a:t>Всего изображений</a:t>
                      </a:r>
                      <a:endParaRPr lang="en-US" sz="1100" dirty="0"/>
                    </a:p>
                  </a:txBody>
                  <a:tcPr marL="63500" marR="63500" marT="63500" marB="635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1BE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3238"/>
                          </a:solidFill>
                        </a:rPr>
                        <a:t>5 856 (train: 5 216 + val: 16 + test: 624)</a:t>
                      </a:r>
                      <a:endParaRPr lang="en-US" sz="1100" dirty="0"/>
                    </a:p>
                  </a:txBody>
                  <a:tcPr marL="63500" marR="63500" marT="63500" marB="635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EEE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A1B9A"/>
                          </a:solidFill>
                        </a:rPr>
                        <a:t>Класс NORMAL</a:t>
                      </a:r>
                      <a:endParaRPr lang="en-US" sz="1100" dirty="0"/>
                    </a:p>
                  </a:txBody>
                  <a:tcPr marL="63500" marR="63500" marT="63500" marB="635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E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3238"/>
                          </a:solidFill>
                        </a:rPr>
                        <a:t>1 583 (27.1%)</a:t>
                      </a:r>
                      <a:endParaRPr lang="en-US" sz="1100" dirty="0"/>
                    </a:p>
                  </a:txBody>
                  <a:tcPr marL="63500" marR="63500" marT="63500" marB="635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A1B9A"/>
                          </a:solidFill>
                        </a:rPr>
                        <a:t>Класс PNEUMONIA</a:t>
                      </a:r>
                      <a:endParaRPr lang="en-US" sz="1100" dirty="0"/>
                    </a:p>
                  </a:txBody>
                  <a:tcPr marL="63500" marR="63500" marT="63500" marB="635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1BE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3238"/>
                          </a:solidFill>
                        </a:rPr>
                        <a:t>4 273 (72.9%)</a:t>
                      </a:r>
                      <a:endParaRPr lang="en-US" sz="1100" dirty="0"/>
                    </a:p>
                  </a:txBody>
                  <a:tcPr marL="63500" marR="63500" marT="63500" marB="635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EEE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A1B9A"/>
                          </a:solidFill>
                        </a:rPr>
                        <a:t>Формат / Тип</a:t>
                      </a:r>
                      <a:endParaRPr lang="en-US" sz="1100" dirty="0"/>
                    </a:p>
                  </a:txBody>
                  <a:tcPr marL="63500" marR="63500" marT="63500" marB="635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E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3238"/>
                          </a:solidFill>
                        </a:rPr>
                        <a:t>JPEG, полутоновые рентгенограммы</a:t>
                      </a:r>
                      <a:endParaRPr lang="en-US" sz="1100" dirty="0"/>
                    </a:p>
                  </a:txBody>
                  <a:tcPr marL="63500" marR="63500" marT="63500" marB="635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A1B9A"/>
                          </a:solidFill>
                        </a:rPr>
                        <a:t>Размеры</a:t>
                      </a:r>
                      <a:endParaRPr lang="en-US" sz="1100" dirty="0"/>
                    </a:p>
                  </a:txBody>
                  <a:tcPr marL="63500" marR="63500" marT="63500" marB="635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1BE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3238"/>
                          </a:solidFill>
                        </a:rPr>
                        <a:t>Неоднородные: ~360–2916 × 313–2583 пикселей</a:t>
                      </a:r>
                      <a:endParaRPr lang="en-US" sz="1100" dirty="0"/>
                    </a:p>
                  </a:txBody>
                  <a:tcPr marL="63500" marR="63500" marT="63500" marB="635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EE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365760" y="4160520"/>
            <a:ext cx="8412480" cy="658368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8" name="Shape 5"/>
          <p:cNvSpPr/>
          <p:nvPr/>
        </p:nvSpPr>
        <p:spPr>
          <a:xfrm>
            <a:off x="365760" y="4160520"/>
            <a:ext cx="6132698" cy="658368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4160520"/>
            <a:ext cx="5029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PNEUMONIA 72.9%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589898" y="4160520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27.1%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412480" y="480060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17/26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BFF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2670048" cy="2926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2670048" cy="2926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3 — ИЗОБРАЖЕНИЯ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 яркости и контраста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5760" y="1280160"/>
            <a:ext cx="1965960" cy="1188720"/>
          </a:xfrm>
          <a:prstGeom prst="rect">
            <a:avLst/>
          </a:prstGeom>
          <a:solidFill>
            <a:srgbClr val="1E88E5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353312"/>
            <a:ext cx="196596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≈110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1933956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Ср. яркость NORMAL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68880" y="1280160"/>
            <a:ext cx="1965960" cy="1188720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10" name="Text 8"/>
          <p:cNvSpPr/>
          <p:nvPr/>
        </p:nvSpPr>
        <p:spPr>
          <a:xfrm>
            <a:off x="2468880" y="1353312"/>
            <a:ext cx="196596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≈130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468880" y="1933956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Ср. яркость PNEUMONIA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0" y="1280160"/>
            <a:ext cx="1965960" cy="1188720"/>
          </a:xfrm>
          <a:prstGeom prst="rect">
            <a:avLst/>
          </a:prstGeom>
          <a:solidFill>
            <a:srgbClr val="1E88E5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1353312"/>
            <a:ext cx="196596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≈55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572000" y="1933956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Контраст (std) NORMAL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675120" y="1280160"/>
            <a:ext cx="2057400" cy="1188720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16" name="Text 14"/>
          <p:cNvSpPr/>
          <p:nvPr/>
        </p:nvSpPr>
        <p:spPr>
          <a:xfrm>
            <a:off x="6675120" y="1353312"/>
            <a:ext cx="205740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≈65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675120" y="1933956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Контраст (std) PNEUMONIA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5760" y="260604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Интерпретация различий яркости: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Лёгочные инфильтраты при пневмонии непрозрачны для рентгеновских лучей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Поражённые ткани выглядят светлее → повышенная средняя яркость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Неоднородность воспаления → повышенный контраст (стд. откл.)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Рекомендации: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Ресайз к 224×224 или 299×299 перед подачей в CNN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Аугментация (повороты, отражения, яркость) для компенсации дисбаланса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Взвешивание классов при обучении (class_weight)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412480" y="480060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18/26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BFF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2011680" cy="292608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2011680" cy="2926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3 — ВЫВОД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Выводы по главе 3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365760" y="1280160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⚖️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60120" y="132588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Выраженный дисбаланс классов: PNEUMONIA 73% vs NORMAL 27%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975104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📐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60120" y="2020824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Неоднородные размеры изображений — необходима стандартизация (224×224)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2670048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💡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60120" y="2715768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Пневмонийные снимки имеют повышенную яркость (~130) и контраст (~65)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3364992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🔬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60120" y="3410712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Средние изображения показывают характерные инфильтраты в лёгочных полях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5760" y="4059936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🎯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4105656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Датасет пригоден для обучения CNN (ResNet, EfficientNet) с аугментацией и взвешиванием классов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412480" y="480060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19/26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FA726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7315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A7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Первичный анализ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текстовых данных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2A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BBC News Classification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5204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Задача: многоклассовая классификация — определить категорию новостной статьи BBC (5 категорий)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0" y="480060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20/26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BFF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2011680" cy="2926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2011680" cy="2926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4 — ТЕКСТ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Датасет и категории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148840" y="1325880"/>
            <a:ext cx="1155021" cy="384048"/>
          </a:xfrm>
          <a:prstGeom prst="rect">
            <a:avLst/>
          </a:prstGeom>
          <a:solidFill>
            <a:srgbClr val="43A047"/>
          </a:solidFill>
          <a:ln/>
        </p:spPr>
      </p:sp>
      <p:sp>
        <p:nvSpPr>
          <p:cNvPr id="8" name="Text 6"/>
          <p:cNvSpPr/>
          <p:nvPr/>
        </p:nvSpPr>
        <p:spPr>
          <a:xfrm>
            <a:off x="3395301" y="12344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3A0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511 (23.0%)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911096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148840" y="2002536"/>
            <a:ext cx="1152760" cy="384048"/>
          </a:xfrm>
          <a:prstGeom prst="rect">
            <a:avLst/>
          </a:prstGeom>
          <a:solidFill>
            <a:srgbClr val="1E88E5"/>
          </a:solidFill>
          <a:ln/>
        </p:spPr>
      </p:sp>
      <p:sp>
        <p:nvSpPr>
          <p:cNvPr id="11" name="Text 9"/>
          <p:cNvSpPr/>
          <p:nvPr/>
        </p:nvSpPr>
        <p:spPr>
          <a:xfrm>
            <a:off x="3393040" y="1911096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8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510 (22.9%)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2587752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Politics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148840" y="2679192"/>
            <a:ext cx="942551" cy="384048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14" name="Text 12"/>
          <p:cNvSpPr/>
          <p:nvPr/>
        </p:nvSpPr>
        <p:spPr>
          <a:xfrm>
            <a:off x="3182831" y="2587752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417 (18.7%)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3264408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148840" y="3355848"/>
            <a:ext cx="906386" cy="384048"/>
          </a:xfrm>
          <a:prstGeom prst="rect">
            <a:avLst/>
          </a:prstGeom>
          <a:solidFill>
            <a:srgbClr val="8E24AA"/>
          </a:solidFill>
          <a:ln/>
        </p:spPr>
      </p:sp>
      <p:sp>
        <p:nvSpPr>
          <p:cNvPr id="17" name="Text 15"/>
          <p:cNvSpPr/>
          <p:nvPr/>
        </p:nvSpPr>
        <p:spPr>
          <a:xfrm>
            <a:off x="3146666" y="3264408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2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401 (18.0%)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5760" y="3941064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Entertainment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148840" y="4032504"/>
            <a:ext cx="872481" cy="384048"/>
          </a:xfrm>
          <a:prstGeom prst="rect">
            <a:avLst/>
          </a:prstGeom>
          <a:solidFill>
            <a:srgbClr val="FB8C00"/>
          </a:solidFill>
          <a:ln/>
        </p:spPr>
      </p:sp>
      <p:sp>
        <p:nvSpPr>
          <p:cNvPr id="20" name="Text 18"/>
          <p:cNvSpPr/>
          <p:nvPr/>
        </p:nvSpPr>
        <p:spPr>
          <a:xfrm>
            <a:off x="3112761" y="3941064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386 (17.3%)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035040" y="1234440"/>
            <a:ext cx="2743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Параметры: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2 225 статей, 5 категорий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Средняя длина: ~390 слов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Слабый дисбаланс (Sport≈23% vs Entertainment≈17%)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Словарь корпуса: ~25 000 слов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412480" y="480060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21/26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BFF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2011680" cy="2926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2011680" cy="2926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4 — ТЕКСТ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и частотный анализ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4114800" cy="356616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298448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матрица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755648"/>
            <a:ext cx="39319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Параметры: ngram (1,2), min_df=3, max_features=500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Размер: 2 225 × 500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Плотность матрицы: ~6.5%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Топ TF-IDF термов по категориям: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Sport: "match", "game", "player", "cup"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Tech: "broadband", "digital", "software"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Politics: "election", "minister", "party"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Business: "market", "shares", "profit"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Entertainment: "film", "music", "award"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234440"/>
            <a:ext cx="4114800" cy="356616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1298448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Bag-of-Words и биграммы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54880" y="1755648"/>
            <a:ext cx="39319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BoW: 2 225 × 3 000, разреженность ~96%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Среднее ненулевых слов на документ: ~120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Топ биграммы корпуса: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"prime minister" — политика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"mobile phones" — технологии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"stock market" — бизнес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"world cup" — спорт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"music industry" — развлечения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412480" y="480060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22/26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BFF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164592"/>
            <a:ext cx="2011680" cy="2926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2011680" cy="29260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4 — ВЫВОД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Выводы по главе 4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365760" y="1280160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✅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60120" y="132588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Практически сбалансированный датасет: 5 категорий по 386–511 статей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975104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📖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60120" y="2020824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Средняя длина статьи ~390 слов; категория "politics" — самые длинные тексты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2670048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🔤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60120" y="2715768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Словарь корпуса: ~25 000 слов; TF-IDF матрица 2 225 × 500 (разреженность ~93.5%)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3364992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🔑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60120" y="3410712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слова хорошо дифференцируют категории (sport ↔ tech ↔ politics)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5760" y="4059936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🎯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4105656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Пригоден для многоклассовой классификации: Logistic Regression, SVM, BERT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412480" y="480060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23/26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BF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Сводные результаты анализа</a:t>
            </a:r>
            <a:endParaRPr lang="en-US" sz="24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22960"/>
          <a:ext cx="85953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560320"/>
                <a:gridCol w="2560320"/>
                <a:gridCol w="182880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Тип</a:t>
                      </a:r>
                      <a:endParaRPr lang="en-US" sz="1200" dirty="0"/>
                    </a:p>
                  </a:txBody>
                  <a:tcPr marL="76200" marR="76200" marT="762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Датасет</a:t>
                      </a:r>
                      <a:endParaRPr lang="en-US" sz="1200" dirty="0"/>
                    </a:p>
                  </a:txBody>
                  <a:tcPr marL="76200" marR="76200" marT="762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Проблемы</a:t>
                      </a:r>
                      <a:endParaRPr lang="en-US" sz="1200" dirty="0"/>
                    </a:p>
                  </a:txBody>
                  <a:tcPr marL="76200" marR="76200" marT="762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Задача</a:t>
                      </a:r>
                      <a:endParaRPr lang="en-US" sz="1200" dirty="0"/>
                    </a:p>
                  </a:txBody>
                  <a:tcPr marL="76200" marR="76200" marT="762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A237E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565C0"/>
                          </a:solidFill>
                        </a:rPr>
                        <a:t>Табличные</a:t>
                      </a:r>
                      <a:endParaRPr lang="en-US" sz="1100" dirty="0"/>
                    </a:p>
                  </a:txBody>
                  <a:tcPr marL="76200" marR="76200" marT="762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3238"/>
                          </a:solidFill>
                        </a:rPr>
                        <a:t>W. Happiness (149×20)</a:t>
                      </a:r>
                      <a:endParaRPr lang="en-US" sz="1100" dirty="0"/>
                    </a:p>
                  </a:txBody>
                  <a:tcPr marL="76200" marR="76200" marT="762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3238"/>
                          </a:solidFill>
                        </a:rPr>
                        <a:t>Мультиколл. r=0.85</a:t>
                      </a:r>
                      <a:endParaRPr lang="en-US" sz="1100" dirty="0"/>
                    </a:p>
                  </a:txBody>
                  <a:tcPr marL="76200" marR="76200" marT="762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3238"/>
                          </a:solidFill>
                        </a:rPr>
                        <a:t>Регрессия</a:t>
                      </a:r>
                      <a:endParaRPr lang="en-US" sz="1100" dirty="0"/>
                    </a:p>
                  </a:txBody>
                  <a:tcPr marL="76200" marR="76200" marT="762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CEFF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7D32"/>
                          </a:solidFill>
                        </a:rPr>
                        <a:t>Врем. ряды</a:t>
                      </a:r>
                      <a:endParaRPr lang="en-US" sz="1100" dirty="0"/>
                    </a:p>
                  </a:txBody>
                  <a:tcPr marL="76200" marR="76200" marT="762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3238"/>
                          </a:solidFill>
                        </a:rPr>
                        <a:t>HAR (10 299×561)</a:t>
                      </a:r>
                      <a:endParaRPr lang="en-US" sz="1100" dirty="0"/>
                    </a:p>
                  </a:txBody>
                  <a:tcPr marL="76200" marR="76200" marT="762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3238"/>
                          </a:solidFill>
                        </a:rPr>
                        <a:t>Умер. дисбаланс</a:t>
                      </a:r>
                      <a:endParaRPr lang="en-US" sz="1100" dirty="0"/>
                    </a:p>
                  </a:txBody>
                  <a:tcPr marL="76200" marR="76200" marT="762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3238"/>
                          </a:solidFill>
                        </a:rPr>
                        <a:t>Классиф. 6 кл.</a:t>
                      </a:r>
                      <a:endParaRPr lang="en-US" sz="1100" dirty="0"/>
                    </a:p>
                  </a:txBody>
                  <a:tcPr marL="76200" marR="76200" marT="762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A1B9A"/>
                          </a:solidFill>
                        </a:rPr>
                        <a:t>Изображения</a:t>
                      </a:r>
                      <a:endParaRPr lang="en-US" sz="1100" dirty="0"/>
                    </a:p>
                  </a:txBody>
                  <a:tcPr marL="76200" marR="76200" marT="762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3238"/>
                          </a:solidFill>
                        </a:rPr>
                        <a:t>Chest X-Ray (5856)</a:t>
                      </a:r>
                      <a:endParaRPr lang="en-US" sz="1100" dirty="0"/>
                    </a:p>
                  </a:txBody>
                  <a:tcPr marL="76200" marR="76200" marT="762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3238"/>
                          </a:solidFill>
                        </a:rPr>
                        <a:t>Дисбаланс 73/27%</a:t>
                      </a:r>
                      <a:endParaRPr lang="en-US" sz="1100" dirty="0"/>
                    </a:p>
                  </a:txBody>
                  <a:tcPr marL="76200" marR="76200" marT="762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CEF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3238"/>
                          </a:solidFill>
                        </a:rPr>
                        <a:t>Бинарная классиф.</a:t>
                      </a:r>
                      <a:endParaRPr lang="en-US" sz="1100" dirty="0"/>
                    </a:p>
                  </a:txBody>
                  <a:tcPr marL="76200" marR="76200" marT="762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CEFF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5100"/>
                          </a:solidFill>
                        </a:rPr>
                        <a:t>Текст</a:t>
                      </a:r>
                      <a:endParaRPr lang="en-US" sz="1100" dirty="0"/>
                    </a:p>
                  </a:txBody>
                  <a:tcPr marL="76200" marR="76200" marT="762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3238"/>
                          </a:solidFill>
                        </a:rPr>
                        <a:t>BBC News (2 225)</a:t>
                      </a:r>
                      <a:endParaRPr lang="en-US" sz="1100" dirty="0"/>
                    </a:p>
                  </a:txBody>
                  <a:tcPr marL="76200" marR="76200" marT="762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3238"/>
                          </a:solidFill>
                        </a:rPr>
                        <a:t>Слабый дисбаланс</a:t>
                      </a:r>
                      <a:endParaRPr lang="en-US" sz="1100" dirty="0"/>
                    </a:p>
                  </a:txBody>
                  <a:tcPr marL="76200" marR="76200" marT="762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63238"/>
                          </a:solidFill>
                        </a:rPr>
                        <a:t>Классиф. 5 кл.</a:t>
                      </a:r>
                      <a:endParaRPr lang="en-US" sz="1100" dirty="0"/>
                    </a:p>
                  </a:txBody>
                  <a:tcPr marL="76200" marR="76200" marT="76200" marB="762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412480" y="480060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24/26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BF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943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Репозиторий исходного кода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143000"/>
            <a:ext cx="8412480" cy="59436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430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2A5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https://github.com/ERICSON535/coursework-data-analysis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2011680"/>
            <a:ext cx="228600" cy="4572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01168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chapter1_tabular_happiness.py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20116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Анализ World Happiness Report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670048"/>
            <a:ext cx="228600" cy="4572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67004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chapter2_timeseries_har.py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0" y="267004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Анализ HAR (временные ряды)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3328416"/>
            <a:ext cx="228600" cy="45720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328416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chapter3_images_xray.py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120640" y="332841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Анализ Chest X-Ray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3986784"/>
            <a:ext cx="228600" cy="45720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986784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chapter4_text_bbc.py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39867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Анализ BBC News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412480" y="480060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25/26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37E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-457200"/>
            <a:ext cx="3200400" cy="3200400"/>
          </a:xfrm>
          <a:prstGeom prst="ellipse">
            <a:avLst/>
          </a:prstGeom>
          <a:solidFill>
            <a:srgbClr val="283593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Заключение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143000"/>
            <a:ext cx="78638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500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Проанализированы 4 датасета разных типов с открытой платформы Kaggle</a:t>
            </a:r>
            <a:endParaRPr lang="en-US" sz="15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500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Разработаны 4 Python-скрипта первичного анализа</a:t>
            </a:r>
            <a:endParaRPr lang="en-US" sz="15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500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Выявлены специфические проблемы каждого типа данных</a:t>
            </a:r>
            <a:endParaRPr lang="en-US" sz="15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500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Код размещён в публичном репозитории GitHub (ERICSON535)</a:t>
            </a:r>
            <a:endParaRPr lang="en-US" sz="15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500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Все задачи курсового проекта выполнены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749040"/>
            <a:ext cx="4572000" cy="0"/>
          </a:xfrm>
          <a:prstGeom prst="line">
            <a:avLst/>
          </a:prstGeom>
          <a:noFill/>
          <a:ln w="19050">
            <a:solidFill>
              <a:srgbClr val="42A5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8862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2A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Уряшев Кирилл Александрович  •  ЕТ-103  •  ЮУрГУ, 2026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434340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внимание!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412480" y="4800600"/>
            <a:ext cx="640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26/26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Поиск и первичный анализ наборов данных</dc:title>
  <dc:subject>PptxGenJS Presentation</dc:subject>
  <dc:creator>Уряшев К.А.</dc:creator>
  <cp:lastModifiedBy>Уряшев К.А.</cp:lastModifiedBy>
  <cp:revision>1</cp:revision>
  <dcterms:created xsi:type="dcterms:W3CDTF">2026-06-09T17:23:39Z</dcterms:created>
  <dcterms:modified xsi:type="dcterms:W3CDTF">2026-06-09T17:23:39Z</dcterms:modified>
</cp:coreProperties>
</file>