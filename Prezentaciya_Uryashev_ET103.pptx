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82" r:id="rId33"/>
    <p:sldId id="262" r:id="rId8"/>
    <p:sldId id="283" r:id="rId34"/>
    <p:sldId id="263" r:id="rId9"/>
    <p:sldId id="264" r:id="rId10"/>
    <p:sldId id="265" r:id="rId11"/>
    <p:sldId id="266" r:id="rId12"/>
    <p:sldId id="267" r:id="rId13"/>
    <p:sldId id="284" r:id="rId35"/>
    <p:sldId id="268" r:id="rId14"/>
    <p:sldId id="269" r:id="rId15"/>
    <p:sldId id="270" r:id="rId16"/>
    <p:sldId id="271" r:id="rId17"/>
    <p:sldId id="272" r:id="rId18"/>
    <p:sldId id="285" r:id="rId36"/>
    <p:sldId id="273" r:id="rId19"/>
    <p:sldId id="274" r:id="rId20"/>
    <p:sldId id="275" r:id="rId21"/>
    <p:sldId id="276" r:id="rId22"/>
    <p:sldId id="286" r:id="rId37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  <Relationship Id="rId33" Type="http://schemas.openxmlformats.org/officeDocument/2006/relationships/slide" Target="slides/slide27.xml"/>
  <Relationship Id="rId34" Type="http://schemas.openxmlformats.org/officeDocument/2006/relationships/slide" Target="slides/slide28.xml"/>
  <Relationship Id="rId35" Type="http://schemas.openxmlformats.org/officeDocument/2006/relationships/slide" Target="slides/slide29.xml"/>
  <Relationship Id="rId36" Type="http://schemas.openxmlformats.org/officeDocument/2006/relationships/slide" Target="slides/slide30.xml"/>
  <Relationship Id="rId37" Type="http://schemas.openxmlformats.org/officeDocument/2006/relationships/slide" Target="slides/slide31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457200"/>
            <a:ext cx="2743200" cy="2743200"/>
          </a:xfrm>
          <a:prstGeom prst="ellipse">
            <a:avLst/>
          </a:prstGeom>
          <a:solidFill>
            <a:srgbClr val="283593"/>
          </a:solidFill>
          <a:ln/>
        </p:spPr>
      </p:sp>
      <p:sp>
        <p:nvSpPr>
          <p:cNvPr id="4" name="Shape 2"/>
          <p:cNvSpPr/>
          <p:nvPr/>
        </p:nvSpPr>
        <p:spPr>
          <a:xfrm>
            <a:off x="-731520" y="3474720"/>
            <a:ext cx="2286000" cy="2286000"/>
          </a:xfrm>
          <a:prstGeom prst="ellipse">
            <a:avLst/>
          </a:prstGeom>
          <a:solidFill>
            <a:srgbClr val="2835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и первичный анализ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наборов данных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различным областям применения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3657600" cy="0"/>
          </a:xfrm>
          <a:prstGeom prst="line">
            <a:avLst/>
          </a:prstGeom>
          <a:noFill/>
          <a:ln w="25400">
            <a:solidFill>
              <a:srgbClr val="42A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01752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Автор: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Уряшев Кирилл Александрович,  ЕТ-103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Руководитель: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Паршукова Н.Б., к.п.н., доцент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ЮУрГУ (НИУ), Центр «ВиртУм», 2026 г.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1243584" cy="292608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243584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ВВЕДЕНИЕ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 работы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114800" cy="15544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716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38912" y="1874520"/>
            <a:ext cx="3968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данных → качество модели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2240280"/>
            <a:ext cx="3968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Алам и Яо [1]: предобработка текстов повышает точность классификаторов на 5–15%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114800" cy="15544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3716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⚖️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36592" y="1874520"/>
            <a:ext cx="3968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Дисбаланс классов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36592" y="2240280"/>
            <a:ext cx="3968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Хи и Гарсиа [2]: методы балансировки улучшают F1-меру на 30% и более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4114800" cy="15544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0632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📈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38912" y="3566160"/>
            <a:ext cx="3968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Временные ряды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8912" y="3931920"/>
            <a:ext cx="3968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Бокс и др. [3]: качество предобработки рядов напрямую влияет на точность прогноза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971800"/>
            <a:ext cx="4114800" cy="15544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30632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736592" y="3566160"/>
            <a:ext cx="3968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курсового проекта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36592" y="3931920"/>
            <a:ext cx="3968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Первичный анализ 4 датасетов разных типов с реализацией на Python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1243584" cy="292608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243584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ВВЕДЕНИЕ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и задачи проекта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8412480" cy="594360"/>
          </a:xfrm>
          <a:prstGeom prst="rect">
            <a:avLst/>
          </a:prstGeom>
          <a:solidFill>
            <a:srgbClr val="42A5F5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Цель: получение практических навыков поиска и первичного анализа наборов данных разных типов для задач ИИ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8412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Сформулировать описание задачи ИИ для каждого типа данных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Подобрать датасеты из авторитетных открытых источников (Kaggle)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Реализовать первичный анализ на Python: загрузка, статистика, визуализация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Сформулировать выводы о качестве данных и пригодности для обучения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Разместить исходный код в репозитории Git (GitHub)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Выбранные датасеты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8412480" cy="65836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23444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68680" y="1234440"/>
            <a:ext cx="18288" cy="65836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234440"/>
            <a:ext cx="137160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Табличные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1234440"/>
            <a:ext cx="411480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Happiness Report 2015–2021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1234440"/>
            <a:ext cx="237744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1 084 страно-лет, 21 признак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30552"/>
            <a:ext cx="8412480" cy="65836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13055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68680" y="2130552"/>
            <a:ext cx="18288" cy="65836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2130552"/>
            <a:ext cx="137160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Врем. ряды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0" y="2130552"/>
            <a:ext cx="411480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Consumption of Tetouan City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2130552"/>
            <a:ext cx="237744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52 416 записей, 8 каналов, 10-мин шаг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026664"/>
            <a:ext cx="8412480" cy="65836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02666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68680" y="3026664"/>
            <a:ext cx="18288" cy="65836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3026664"/>
            <a:ext cx="137160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Изображения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6000" y="3026664"/>
            <a:ext cx="411480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X-Ray Pneumonia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3026664"/>
            <a:ext cx="237744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5 856 рентгенов, 2 класса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922776"/>
            <a:ext cx="8412480" cy="65836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92277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68680" y="3922776"/>
            <a:ext cx="18288" cy="65836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896112" y="3922776"/>
            <a:ext cx="137160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86000" y="3922776"/>
            <a:ext cx="411480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BBC News Classification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0" y="3922776"/>
            <a:ext cx="237744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2 225 статей, 5 категорий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Первичный анализ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табличных данных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Happiness Report 2021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352044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Задача: регрессия — предсказание индекса счастья по социально-экономическим показателям 149 стран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2450592" cy="2926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2450592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1 — ТАБЛИЧНЫЕ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Датасет: World Happiness Report 2015–2021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6126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65C0"/>
                          </a:solidFill>
                        </a:rPr>
                        <a:t>Источник</a:t>
                      </a:r>
                      <a:endParaRPr lang="en-US" sz="1200" dirty="0"/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238"/>
                          </a:solidFill>
                        </a:rPr>
                        <a:t>Kaggle (mathurinache) / UN SDSN</a:t>
                      </a:r>
                      <a:endParaRPr lang="en-US" sz="1200" dirty="0"/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65C0"/>
                          </a:solidFill>
                        </a:rPr>
                        <a:t>Объём</a:t>
                      </a:r>
                      <a:endParaRPr lang="en-US" sz="1200" dirty="0"/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238"/>
                          </a:solidFill>
                        </a:rPr>
                        <a:t>1 084 страно-лет × 21 признак</a:t>
                      </a:r>
                      <a:endParaRPr lang="en-US" sz="1200" dirty="0"/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EEE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65C0"/>
                          </a:solidFill>
                        </a:rPr>
                        <a:t>Целевой признак</a:t>
                      </a:r>
                      <a:endParaRPr lang="en-US" sz="1200" dirty="0"/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238"/>
                          </a:solidFill>
                        </a:rPr>
                        <a:t>Ladder Score (0–10)</a:t>
                      </a:r>
                      <a:endParaRPr lang="en-US" sz="1200" dirty="0"/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65C0"/>
                          </a:solidFill>
                        </a:rPr>
                        <a:t>Ключевые признаки</a:t>
                      </a:r>
                      <a:endParaRPr lang="en-US" sz="1200" dirty="0"/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238"/>
                          </a:solidFill>
                        </a:rPr>
                        <a:t>ВВП (log), социальная поддержка, продолжительность жизни, свобода, щедрость, коррупция</a:t>
                      </a:r>
                      <a:endParaRPr lang="en-US" sz="1200" dirty="0"/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EEE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65C0"/>
                          </a:solidFill>
                        </a:rPr>
                        <a:t>Пропуски</a:t>
                      </a:r>
                      <a:endParaRPr lang="en-US" sz="1200" dirty="0"/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238"/>
                          </a:solidFill>
                        </a:rPr>
                        <a:t>Отсутствуют в ключевых признаках</a:t>
                      </a:r>
                      <a:endParaRPr lang="en-US" sz="1200" dirty="0"/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65C0"/>
                          </a:solidFill>
                        </a:rPr>
                        <a:t>Лицензия</a:t>
                      </a:r>
                      <a:endParaRPr lang="en-US" sz="1200" dirty="0"/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238"/>
                          </a:solidFill>
                        </a:rPr>
                        <a:t>CC0 (Public Domain)</a:t>
                      </a:r>
                      <a:endParaRPr lang="en-US" sz="1200" dirty="0"/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2450592" cy="2926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2450592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1 — ТАБЛИЧНЫЕ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Статистика и распределения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1828800" cy="109728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07592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7.84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83794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Макс. счастье (Финляндия)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31720" y="1234440"/>
            <a:ext cx="1828800" cy="109728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0" name="Text 8"/>
          <p:cNvSpPr/>
          <p:nvPr/>
        </p:nvSpPr>
        <p:spPr>
          <a:xfrm>
            <a:off x="2331720" y="1307592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331720" y="183794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Мин. счастье (Афганистан)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1234440"/>
            <a:ext cx="1828800" cy="109728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1307592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297680" y="183794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 по миру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1234440"/>
            <a:ext cx="2331720" cy="1097280"/>
          </a:xfrm>
          <a:prstGeom prst="rect">
            <a:avLst/>
          </a:prstGeom>
          <a:solidFill>
            <a:srgbClr val="8E24AA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307592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63640" y="1837944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Ст. откл. индекса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2514600"/>
            <a:ext cx="8412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Распределение: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 счастья ≈ нормальное с лёгким левым скосом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 "generosity" — острый пик у нуля, правый хвост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 "corruption" — сильно правоскошен (большинство 0.1–0.15)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"GDP" и "life_expectancy" близки к нормальному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2450592" cy="2926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2450592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1 — ТАБЛИЧНЫЕ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Корреляционный анализ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ВВП на душу населения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325880"/>
            <a:ext cx="3922776" cy="32004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8" name="Text 6"/>
          <p:cNvSpPr/>
          <p:nvPr/>
        </p:nvSpPr>
        <p:spPr>
          <a:xfrm>
            <a:off x="7397496" y="12801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0.78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Продолжительность жизни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1874520"/>
            <a:ext cx="3872484" cy="32004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11" name="Text 9"/>
          <p:cNvSpPr/>
          <p:nvPr/>
        </p:nvSpPr>
        <p:spPr>
          <a:xfrm>
            <a:off x="7347204" y="18288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0.77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3774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Социальная поддержка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83280" y="2423160"/>
            <a:ext cx="3671316" cy="320040"/>
          </a:xfrm>
          <a:prstGeom prst="rect">
            <a:avLst/>
          </a:prstGeom>
          <a:solidFill>
            <a:srgbClr val="8E24AA"/>
          </a:solidFill>
          <a:ln/>
        </p:spPr>
      </p:sp>
      <p:sp>
        <p:nvSpPr>
          <p:cNvPr id="14" name="Text 12"/>
          <p:cNvSpPr/>
          <p:nvPr/>
        </p:nvSpPr>
        <p:spPr>
          <a:xfrm>
            <a:off x="7146036" y="23774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2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0.73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29260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Свобода выбора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83280" y="2971800"/>
            <a:ext cx="2866644" cy="320040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17" name="Text 15"/>
          <p:cNvSpPr/>
          <p:nvPr/>
        </p:nvSpPr>
        <p:spPr>
          <a:xfrm>
            <a:off x="6341364" y="29260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0.57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34747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Восприятие коррупции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83280" y="3520440"/>
            <a:ext cx="2212848" cy="32004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20" name="Text 18"/>
          <p:cNvSpPr/>
          <p:nvPr/>
        </p:nvSpPr>
        <p:spPr>
          <a:xfrm>
            <a:off x="5687568" y="34747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0.44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0233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Щедрость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83280" y="4069080"/>
            <a:ext cx="754380" cy="320040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23" name="Text 21"/>
          <p:cNvSpPr/>
          <p:nvPr/>
        </p:nvSpPr>
        <p:spPr>
          <a:xfrm>
            <a:off x="4229100" y="40233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0.15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FFEBEE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Мультиколлинеарность: ВВП ↔ продолж. жизни (r = 0.85) — нужна регуляризация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8/26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2450592" cy="2926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2450592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1 — ТАБЛИЧНЫЕ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 стран и региональный анализ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Топ-5 счастливых стран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2724180" cy="384048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002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Финляндия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81380" y="160020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21408"/>
            <a:ext cx="2623414" cy="384048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214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Исландия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80614" y="212140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642616"/>
            <a:ext cx="2612989" cy="384048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64261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Дания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70189" y="264261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163824"/>
            <a:ext cx="2609515" cy="384048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16382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Швейцария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66715" y="316382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685032"/>
            <a:ext cx="2592141" cy="384048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6850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Нидерланды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49341" y="368503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11887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 индекс по регионам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0" y="1600200"/>
            <a:ext cx="2453640" cy="384048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16002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Зап. Европа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17080" y="16002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2121408"/>
            <a:ext cx="2524760" cy="384048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21214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С. Америка / Австралия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88200" y="212140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0" y="2642616"/>
            <a:ext cx="2062480" cy="384048"/>
          </a:xfrm>
          <a:prstGeom prst="rect">
            <a:avLst/>
          </a:prstGeom>
          <a:solidFill>
            <a:srgbClr val="8E24AA"/>
          </a:solidFill>
          <a:ln/>
        </p:spPr>
      </p:sp>
      <p:sp>
        <p:nvSpPr>
          <p:cNvPr id="30" name="Text 28"/>
          <p:cNvSpPr/>
          <p:nvPr/>
        </p:nvSpPr>
        <p:spPr>
          <a:xfrm>
            <a:off x="4663440" y="264261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Вост. Азия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25920" y="264261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2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0" y="3163824"/>
            <a:ext cx="1877568" cy="384048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33" name="Text 31"/>
          <p:cNvSpPr/>
          <p:nvPr/>
        </p:nvSpPr>
        <p:spPr>
          <a:xfrm>
            <a:off x="4663440" y="316382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СНГ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41008" y="316382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5.28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0" y="3685032"/>
            <a:ext cx="1564640" cy="384048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6" name="Text 34"/>
          <p:cNvSpPr/>
          <p:nvPr/>
        </p:nvSpPr>
        <p:spPr>
          <a:xfrm>
            <a:off x="4663440" y="36850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Африка (юг Сахары)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28080" y="368503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9/26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1 — ВЫВОД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 по главе 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234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Пропущенные значения &lt;2% (заполнены медианой)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81051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185623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Большинство признаков близки к нормальному распределению; "generosity" — правоскошен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432304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🔗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47802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Наивысшая корреляция с индексом счастья: ВВП (r=0.78), продолж. жизни (r=0.77)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3054096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⚠️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3099816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Мультиколлинеарность: ВВП ↔ продолж. жизни (r=0.85) — требует Ridge / PCA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367588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🌍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372160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Значительные межрегиональные различия (Сев. Европа vs Африка южнее Сахары)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42976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4343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 пригоден для регрессии и кластеризации без дополнительной подготовки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10/26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Первичный анализ данных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временными рядами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Consumption of Tetouan City (Kaggle, fedesoriano)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5204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Задача: прогнозирование — предсказать потребление электроэнергии по погодным данным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11/26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2999232" cy="2926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2999232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2 — ВРЕМЕННЫЕ РЯДЫ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Датасет: Power Consumption of Tetouan City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6126480"/>
              </a:tblGrid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Источник</a:t>
                      </a:r>
                      <a:endParaRPr lang="en-US" sz="1100" dirty="0"/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Kaggle (fedesoriano) / UCI Machine Learning Repository</a:t>
                      </a:r>
                      <a:endParaRPr lang="en-US" sz="1100" dirty="0"/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Объём</a:t>
                      </a:r>
                      <a:endParaRPr lang="en-US" sz="1100" dirty="0"/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52 416 записей × 9 столбцов</a:t>
                      </a:r>
                      <a:endParaRPr lang="en-US" sz="1100" dirty="0"/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EEEE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Каналы
Datetime, Temperature, Humidity, Wind Speed, Diff. Flows, Zone 1-3 Power</a:t>
                      </a:r>
                      <a:endParaRPr lang="en-US" sz="1100" dirty="0"/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Период
Январь–декабрь 2017, шаг 10 минут, 50 Гц</a:t>
                      </a:r>
                      <a:endParaRPr lang="en-US" sz="1100" dirty="0"/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Пропуски
0 (нет пропущенных значений)</a:t>
                      </a:r>
                      <a:endParaRPr lang="en-US" sz="1100" dirty="0"/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EEEE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Лицензия</a:t>
                      </a:r>
                      <a:endParaRPr lang="en-US" sz="1100" dirty="0"/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CC BY 4.0</a:t>
                      </a:r>
                      <a:endParaRPr lang="en-US" sz="1100" dirty="0"/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2999232" cy="2926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2999232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2 — ВРЕМЕННЫЕ РЯДЫ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Статистика и визуализация каналов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40280" y="1344168"/>
            <a:ext cx="3239911" cy="338328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8" name="Text 6"/>
          <p:cNvSpPr/>
          <p:nvPr/>
        </p:nvSpPr>
        <p:spPr>
          <a:xfrm>
            <a:off x="5571631" y="12801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84708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WALKING_UP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40280" y="1911096"/>
            <a:ext cx="2905007" cy="338328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11" name="Text 9"/>
          <p:cNvSpPr/>
          <p:nvPr/>
        </p:nvSpPr>
        <p:spPr>
          <a:xfrm>
            <a:off x="5236727" y="184708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41401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WALKING_DOWN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40280" y="2478024"/>
            <a:ext cx="2647244" cy="338328"/>
          </a:xfrm>
          <a:prstGeom prst="rect">
            <a:avLst/>
          </a:prstGeom>
          <a:solidFill>
            <a:srgbClr val="81C784"/>
          </a:solidFill>
          <a:ln/>
        </p:spPr>
      </p:sp>
      <p:sp>
        <p:nvSpPr>
          <p:cNvPr id="14" name="Text 12"/>
          <p:cNvSpPr/>
          <p:nvPr/>
        </p:nvSpPr>
        <p:spPr>
          <a:xfrm>
            <a:off x="4978964" y="241401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1407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98094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SITTING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40280" y="3044952"/>
            <a:ext cx="3343393" cy="338328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7" name="Text 15"/>
          <p:cNvSpPr/>
          <p:nvPr/>
        </p:nvSpPr>
        <p:spPr>
          <a:xfrm>
            <a:off x="5675113" y="298094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1777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35478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40280" y="3611880"/>
            <a:ext cx="3586104" cy="338328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20" name="Text 18"/>
          <p:cNvSpPr/>
          <p:nvPr/>
        </p:nvSpPr>
        <p:spPr>
          <a:xfrm>
            <a:off x="5917824" y="354787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114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40280" y="4178808"/>
            <a:ext cx="3657600" cy="338328"/>
          </a:xfrm>
          <a:prstGeom prst="rect">
            <a:avLst/>
          </a:prstGeom>
          <a:solidFill>
            <a:srgbClr val="90CAF9"/>
          </a:solidFill>
          <a:ln/>
        </p:spPr>
      </p:sp>
      <p:sp>
        <p:nvSpPr>
          <p:cNvPr id="23" name="Text 21"/>
          <p:cNvSpPr/>
          <p:nvPr/>
        </p:nvSpPr>
        <p:spPr>
          <a:xfrm>
            <a:off x="5989320" y="41148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1188720"/>
            <a:ext cx="40233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наблюдения: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Пропусков нет; шаг 10 мин, 144 отсчёта/сутки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Выбросы 3σ: Zone 1 — 624 (1.19%), летние пики нагрузки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Temperature ↔ Zone 1: r=0.52; Zone 1 ↔ Zone 2: r=0.91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13/26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2999232" cy="2926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2999232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2 — ВРЕМЕННЫЕ РЯДЫ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Декомпозиция и анализ шума (SNR)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114800" cy="356616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9844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seasonal_decompose (period=144, additive)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55648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Тренд: рост с января (~28 000 кВт) к июлю (~42 000 кВт, +18%)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 SNR: σ²_сигнал=157 250 000, σ²_шум=3 050 000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4114800" cy="356616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29844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Прогнозирование возможно без доп. фильтрации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1755648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Ходьба (WALKING):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Доминирующие частоты 1–3 Гц (шаговая частота)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LAYING: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Плоский спектр (высокая стационарность)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(2 компоненты ≈ 55% дисперсии):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Статические классы хорошо разделяются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Динамические — частично перекрываются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14/26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2 — ВЫВОД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 по главе 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1325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Пропусков нет (52 416 записей × 9 столбцов)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975104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2020824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Выбросы (1.19%) — реальные летние пики, сохраняются в выборке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670048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🌊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60120" y="27157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Суточная периодичность; тренд +18% к лету (кондиционирование)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336499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📍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60120" y="341071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SNR = 17.1 дБ («Отлично») — данные пригодны без доп. фильтрации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4059936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4105656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Пригоден для LSTM, GRU, Prophet (задача краткосрочного прогноза нагрузки)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15/26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AB47B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Первичный анализ данных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изображениями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X-Ray Images (Pneumonia)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5204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Задача: бинарная классификация рентгеновских снимков — NORMAL vs PNEUMONIA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16/26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2670048" cy="29260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2670048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3 — ИЗОБРАЖЕНИЯ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 и распределение классов</a:t>
            </a:r>
            <a:endParaRPr lang="en-US" sz="2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8521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A1B9A"/>
                          </a:solidFill>
                        </a:rPr>
                        <a:t>Источник</a:t>
                      </a:r>
                      <a:endParaRPr lang="en-US" sz="1100" dirty="0"/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Kaggle (paultimothymooney) / Guangzhou Women's Hospital</a:t>
                      </a:r>
                      <a:endParaRPr lang="en-US" sz="1100" dirty="0"/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A1B9A"/>
                          </a:solidFill>
                        </a:rPr>
                        <a:t>Всего изображений</a:t>
                      </a:r>
                      <a:endParaRPr lang="en-US" sz="1100" dirty="0"/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1B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5 856 (train: 5 216 + val: 16 + test: 624)</a:t>
                      </a:r>
                      <a:endParaRPr lang="en-US" sz="1100" dirty="0"/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EEE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A1B9A"/>
                          </a:solidFill>
                        </a:rPr>
                        <a:t>Класс NORMAL</a:t>
                      </a:r>
                      <a:endParaRPr lang="en-US" sz="1100" dirty="0"/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1 583 (27.1%)</a:t>
                      </a:r>
                      <a:endParaRPr lang="en-US" sz="1100" dirty="0"/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A1B9A"/>
                          </a:solidFill>
                        </a:rPr>
                        <a:t>Класс PNEUMONIA</a:t>
                      </a:r>
                      <a:endParaRPr lang="en-US" sz="1100" dirty="0"/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1B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4 273 (72.9%)</a:t>
                      </a:r>
                      <a:endParaRPr lang="en-US" sz="1100" dirty="0"/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EEE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A1B9A"/>
                          </a:solidFill>
                        </a:rPr>
                        <a:t>Формат / Тип</a:t>
                      </a:r>
                      <a:endParaRPr lang="en-US" sz="1100" dirty="0"/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JPEG, полутоновые рентгенограммы</a:t>
                      </a:r>
                      <a:endParaRPr lang="en-US" sz="1100" dirty="0"/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A1B9A"/>
                          </a:solidFill>
                        </a:rPr>
                        <a:t>Размеры</a:t>
                      </a:r>
                      <a:endParaRPr lang="en-US" sz="1100" dirty="0"/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1B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Неоднородные: ~360–2916 × 313–2583 пикселей</a:t>
                      </a:r>
                      <a:endParaRPr lang="en-US" sz="1100" dirty="0"/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160520"/>
            <a:ext cx="8412480" cy="65836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8" name="Shape 5"/>
          <p:cNvSpPr/>
          <p:nvPr/>
        </p:nvSpPr>
        <p:spPr>
          <a:xfrm>
            <a:off x="365760" y="4160520"/>
            <a:ext cx="6132698" cy="658368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16052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 72.9%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589898" y="416052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27.1%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17/26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2670048" cy="29260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2670048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3 — ИЗОБРАЖЕНИЯ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яркости и контраста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1965960" cy="11887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53312"/>
            <a:ext cx="19659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≈110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933956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Ср. яркость NORMAL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1280160"/>
            <a:ext cx="1965960" cy="118872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1353312"/>
            <a:ext cx="19659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≈130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68880" y="1933956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Ср. яркость PNEUMONIA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280160"/>
            <a:ext cx="1965960" cy="11887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353312"/>
            <a:ext cx="19659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≈55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72000" y="1933956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Контраст (std) NORMAL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75120" y="1280160"/>
            <a:ext cx="2057400" cy="118872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1353312"/>
            <a:ext cx="20574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≈65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675120" y="1933956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Контраст (std) PNEUMONIA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2606040"/>
            <a:ext cx="8412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Интерпретация различий яркости: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Лёгочные инфильтраты при пневмонии непрозрачны для рентгеновских лучей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Поражённые ткани выглядят светлее → повышенная средняя яркость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Неоднородность воспаления → повышенный контраст (стд. откл.)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Рекомендации: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Ресайз к 224×224 или 299×299 перед подачей в CNN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Аугментация (повороты, отражения, яркость) для компенсации дисбаланса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Взвешивание классов при обучении (class_weight)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18/26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3 — ВЫВОД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 по главе 3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⚖️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1325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Выраженный дисбаланс классов: PNEUMONIA 73% vs NORMAL 27%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975104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📐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2020824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Неоднородные размеры изображений — необходима стандартизация (224×224)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670048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60120" y="27157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Пневмонийные снимки имеют повышенную яркость (~130) и контраст (~65)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336499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🔬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60120" y="341071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Средние изображения показывают характерные инфильтраты в лёгочных полях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4059936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4105656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 пригоден для обучения CNN (ResNet, EfficientNet) с аугментацией и взвешиванием классов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19/26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A72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Первичный анализ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текстовых данных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BBC News Classification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5204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Задача: многоклассовая классификация — определить категорию новостной статьи BBC (5 категорий)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20/26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4 — ТЕКСТ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 и категории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48840" y="1325880"/>
            <a:ext cx="1155021" cy="384048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8" name="Text 6"/>
          <p:cNvSpPr/>
          <p:nvPr/>
        </p:nvSpPr>
        <p:spPr>
          <a:xfrm>
            <a:off x="3395301" y="1234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511 (23.0%)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911096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148840" y="2002536"/>
            <a:ext cx="1152760" cy="384048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1" name="Text 9"/>
          <p:cNvSpPr/>
          <p:nvPr/>
        </p:nvSpPr>
        <p:spPr>
          <a:xfrm>
            <a:off x="3393040" y="1911096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510 (22.9%)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58775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148840" y="2679192"/>
            <a:ext cx="942551" cy="384048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4" name="Text 12"/>
          <p:cNvSpPr/>
          <p:nvPr/>
        </p:nvSpPr>
        <p:spPr>
          <a:xfrm>
            <a:off x="3182831" y="258775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417 (18.7%)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26440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148840" y="3355848"/>
            <a:ext cx="906386" cy="384048"/>
          </a:xfrm>
          <a:prstGeom prst="rect">
            <a:avLst/>
          </a:prstGeom>
          <a:solidFill>
            <a:srgbClr val="8E24AA"/>
          </a:solidFill>
          <a:ln/>
        </p:spPr>
      </p:sp>
      <p:sp>
        <p:nvSpPr>
          <p:cNvPr id="17" name="Text 15"/>
          <p:cNvSpPr/>
          <p:nvPr/>
        </p:nvSpPr>
        <p:spPr>
          <a:xfrm>
            <a:off x="3146666" y="326440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2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 (18.0%)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3941064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148840" y="4032504"/>
            <a:ext cx="872481" cy="384048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20" name="Text 18"/>
          <p:cNvSpPr/>
          <p:nvPr/>
        </p:nvSpPr>
        <p:spPr>
          <a:xfrm>
            <a:off x="3112761" y="394106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386 (17.3%)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35040" y="1234440"/>
            <a:ext cx="274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Параметры: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2 225 статей, 5 категорий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Средняя длина: ~390 слов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Слабый дисбаланс (Sport≈23% vs Entertainment≈17%)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Словарь корпуса: ~25 000 слов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21/26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4 — ТЕКСТ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и частотный анализ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114800" cy="356616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9844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матрица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55648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Параметры: ngram (1,2), min_df=3, max_features=500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Размер: 2 225 × 500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Плотность матрицы: ~6.5%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 TF-IDF термов по категориям: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Sport: "match", "game", "player", "cup"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Tech: "broadband", "digital", "software"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Politics: "election", "minister", "party"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Business: "market", "shares", "profit"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Entertainment: "film", "music", "award"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4114800" cy="356616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29844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Bag-of-Words и биграммы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755648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BoW: 2 225 × 3 000, разреженность ~96%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 ненулевых слов на документ: ~120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 биграммы корпуса: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"prime minister" — политика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"mobile phones" — технологии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"stock market" — бизнес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"world cup" — спорт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"music industry" — развлечения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22/26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4 — ВЫВОД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 по главе 4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1325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Практически сбалансированный датасет: 5 категорий по 386–511 статей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975104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📖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2020824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Средняя длина статьи ~390 слов; категория "politics" — самые длинные тексты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670048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🔤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60120" y="27157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Словарь корпуса: ~25 000 слов; TF-IDF матрица 2 225 × 500 (разреженность ~93.5%)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336499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🔑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60120" y="341071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слова хорошо дифференцируют категории (sport ↔ tech ↔ politics)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4059936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4105656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Пригоден для многоклассовой классификации: Logistic Regression, SVM, BERT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23/26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Сводные результаты анализа</a:t>
            </a:r>
            <a:endParaRPr lang="en-US" sz="2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2560320"/>
                <a:gridCol w="182880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Тип</a:t>
                      </a:r>
                      <a:endParaRPr lang="en-US" sz="1200" dirty="0"/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Датасет</a:t>
                      </a:r>
                      <a:endParaRPr lang="en-US" sz="1200" dirty="0"/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Проблемы</a:t>
                      </a:r>
                      <a:endParaRPr lang="en-US" sz="1200" dirty="0"/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Задача</a:t>
                      </a:r>
                      <a:endParaRPr lang="en-US" sz="1200" dirty="0"/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37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65C0"/>
                          </a:solidFill>
                        </a:rPr>
                        <a:t>Табличные</a:t>
                      </a:r>
                      <a:endParaRPr lang="en-US" sz="1100" dirty="0"/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W. Happiness (1 084×21)</a:t>
                      </a:r>
                      <a:endParaRPr lang="en-US" sz="1100" dirty="0"/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Мультиколл. r=0.85</a:t>
                      </a:r>
                      <a:endParaRPr lang="en-US" sz="1100" dirty="0"/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Регрессия</a:t>
                      </a:r>
                      <a:endParaRPr lang="en-US" sz="1100" dirty="0"/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CEFF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</a:rPr>
                        <a:t>Врем. ряды</a:t>
                      </a:r>
                      <a:endParaRPr lang="en-US" sz="1100" dirty="0"/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Power Consump. (52 416×9)</a:t>
                      </a:r>
                      <a:endParaRPr lang="en-US" sz="1100" dirty="0"/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Выбросы 1.19%</a:t>
                      </a:r>
                      <a:endParaRPr lang="en-US" sz="1100" dirty="0"/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Прогноз нагрузки</a:t>
                      </a:r>
                      <a:endParaRPr lang="en-US" sz="1100" dirty="0"/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A1B9A"/>
                          </a:solidFill>
                        </a:rPr>
                        <a:t>Изображения</a:t>
                      </a:r>
                      <a:endParaRPr lang="en-US" sz="1100" dirty="0"/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Chest X-Ray (5856)</a:t>
                      </a:r>
                      <a:endParaRPr lang="en-US" sz="1100" dirty="0"/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Дисбаланс 73/27%</a:t>
                      </a:r>
                      <a:endParaRPr lang="en-US" sz="1100" dirty="0"/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Бинарная классиф.</a:t>
                      </a:r>
                      <a:endParaRPr lang="en-US" sz="1100" dirty="0"/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CEFF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5100"/>
                          </a:solidFill>
                        </a:rPr>
                        <a:t>Текст</a:t>
                      </a:r>
                      <a:endParaRPr lang="en-US" sz="1100" dirty="0"/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BBC News (2 225)</a:t>
                      </a:r>
                      <a:endParaRPr lang="en-US" sz="1100" dirty="0"/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Слабый дисбаланс</a:t>
                      </a:r>
                      <a:endParaRPr lang="en-US" sz="1100" dirty="0"/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Классиф. 5 кл.</a:t>
                      </a:r>
                      <a:endParaRPr lang="en-US" sz="1100" dirty="0"/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24/26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Репозиторий исходного кода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59436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https://github.com/ERICSON535/coursework-data-analysis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22860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0116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chapter1_tabular_happiness.py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120640" y="2011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Анализ World Happiness Report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670048"/>
            <a:ext cx="228600" cy="457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67004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chapter2_timeseries_power.py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20640" y="26700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Анализ Power Consumption (временные ряды)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328416"/>
            <a:ext cx="228600" cy="45720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328416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chapter3_images_xray.py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0" y="332841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Анализ Chest X-Ray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986784"/>
            <a:ext cx="228600" cy="4572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98678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chapter4_text_bbc.py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0" y="39867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Анализ BBC News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25/26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28359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Заключение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7863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Проанализированы 4 датасета разных типов с открытой платформы Kaggle</a:t>
            </a:r>
            <a:endParaRPr lang="en-US" sz="15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Разработаны 4 Python-скрипта первичного анализа</a:t>
            </a:r>
            <a:endParaRPr lang="en-US" sz="15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Выявлены специфические проблемы каждого типа данных</a:t>
            </a:r>
            <a:endParaRPr lang="en-US" sz="15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Код размещён в публичном репозитории GitHub (ERICSON535)</a:t>
            </a:r>
            <a:endParaRPr lang="en-US" sz="15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Все задачи курсового проекта выполнены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749040"/>
            <a:ext cx="4572000" cy="0"/>
          </a:xfrm>
          <a:prstGeom prst="line">
            <a:avLst/>
          </a:prstGeom>
          <a:noFill/>
          <a:ln w="19050">
            <a:solidFill>
              <a:srgbClr val="42A5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886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Уряшев Кирилл Александрович  •  ЕТ-103  •  ЮУрГУ,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3434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внимание!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solidFill>
            <a:srgbClr val="1F3864"/>
          </a:solidFill>
        </p:spPr>
        <p:txBody>
          <a:bodyPr wrap="square" rtlCol="0" anchor="ctr" lIns="91440" tIns="45720" rIns="91440" bIns="45720"/>
          <a:lstStyle/>
          <a:p>
            <a:pPr algn="l"/>
            <a:r>
              <a:rPr lang="ru-RU" sz="1800" dirty="0">
                <a:b/>
                <a:solidFill>
                  <a:srgbClr val="FFFFFF"/>
                </a:solidFill>
              </a:rPr>
              <a:t>ГЛАВА 1 — ТАБЛИЧНЫЕ   Атрибуты датасета World Happiness Report 2015–2021</a:t>
            </a:r>
          </a:p>
        </p:txBody>
      </p:sp>
      <p:graphicFrame>
        <p:nvGraphicFramePr>
          <p:cNvPr id="4" name="Table 1"/>
          <p:cNvGraphicFramePr/>
          <p:nvPr/>
        </p:nvGraphicFramePr>
        <a:xfrm>
          <a:off x="457200" y="1371600"/>
          <a:ext cx="8229600" cy="5029200"/>
        </a:xfrm>
        <a:graphic>
          <a:graphicData uri="http://schemas.openxmlformats.org/drawingml/2006/table">
            <a:tbl xmlns:a="http://schemas.openxmlformats.org/drawingml/2006/main">
              <a:tblPr firstRow="1" bandRow="1">
                <a:tableStyleId>{5C22544A-7EE6-4342-B048-85BDC9FD1C3A}</a:tableStyleId>
              </a:tblPr>
              <a:tblGrid>
                <a:gridCol w="667264"/>
                <a:gridCol w="1779372"/>
                <a:gridCol w="3113902"/>
                <a:gridCol w="1334529"/>
                <a:gridCol w="1334529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b/>
                        </a:rPr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b/>
                        </a:rPr>
                        <a:t>Название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b/>
                        </a:rPr>
                        <a:t>Семантика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b/>
                        </a:rPr>
                        <a:t>Тип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b/>
                        </a:rPr>
                        <a:t>Значения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Год наблюдения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числовой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2015–2021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Country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Название страны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категор.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149 уник.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Regional indicator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Регион мира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категор.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10 регионов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happiness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Индекс счастья (ЦЕЛЕВАЯ)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числовой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0–10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gdp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ВВП на душу нас. (log)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числовой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6.6–11.6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social_support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Социальная поддержка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числовой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0–1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life_expectancy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Ожид. продолж. здор. жизни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числовой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32–77 лет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freedom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Свобода жизненного выбора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числовой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0–1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generosity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Щедрость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числовой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−0.30–0.70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corruption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Восприятие коррупции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числовой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0–0.65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solidFill>
            <a:srgbClr val="1F3864"/>
          </a:solidFill>
        </p:spPr>
        <p:txBody>
          <a:bodyPr wrap="square" rtlCol="0" anchor="ctr" lIns="91440" tIns="45720" rIns="91440" bIns="45720"/>
          <a:lstStyle/>
          <a:p>
            <a:pPr algn="l"/>
            <a:r>
              <a:rPr lang="ru-RU" sz="1800" dirty="0">
                <a:b/>
                <a:solidFill>
                  <a:srgbClr val="FFFFFF"/>
                </a:solidFill>
              </a:rPr>
              <a:t>ГЛАВА 1 — ТАБЛИЧНЫЕ   Пример данных (первые строки)</a:t>
            </a:r>
          </a:p>
        </p:txBody>
      </p:sp>
      <p:graphicFrame>
        <p:nvGraphicFramePr>
          <p:cNvPr id="4" name="Table 1"/>
          <p:cNvGraphicFramePr/>
          <p:nvPr/>
        </p:nvGraphicFramePr>
        <a:xfrm>
          <a:off x="457200" y="1371600"/>
          <a:ext cx="8229600" cy="5029200"/>
        </a:xfrm>
        <a:graphic>
          <a:graphicData uri="http://schemas.openxmlformats.org/drawingml/2006/table">
            <a:tbl xmlns:a="http://schemas.openxmlformats.org/drawingml/2006/main">
              <a:tblPr firstRow="1" bandRow="1">
                <a:tableStyleId>{5C22544A-7EE6-4342-B048-85BDC9FD1C3A}</a:tableStyleId>
              </a:tblPr>
              <a:tblGrid>
                <a:gridCol w="1316736"/>
                <a:gridCol w="658368"/>
                <a:gridCol w="987552"/>
                <a:gridCol w="822960"/>
                <a:gridCol w="822960"/>
                <a:gridCol w="987552"/>
                <a:gridCol w="987552"/>
                <a:gridCol w="1645920"/>
              </a:tblGrid>
              <a:tr h="718457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b/>
                        </a:rPr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b/>
                        </a:rP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b/>
                        </a:rPr>
                        <a:t>happiness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b/>
                        </a:rPr>
                        <a:t>gdp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b/>
                        </a:rPr>
                        <a:t>social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b/>
                        </a:rPr>
                        <a:t>life_exp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b/>
                        </a:rPr>
                        <a:t>freedom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b/>
                        </a:rPr>
                        <a:t>region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Finland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7.84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10.78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0.954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71.9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0.949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Western Europe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Iceland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7.55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10.88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0.983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73.0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0.974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Western Europe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Denmark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7.52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10.93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0.954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72.7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0.946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Western Europe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Afghanistan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2.52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7.32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0.559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52.4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0.382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South Asia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Finland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7.81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10.76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0.960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71.7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0.944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Western Europe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...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solidFill>
            <a:srgbClr val="1F3864"/>
          </a:solidFill>
        </p:spPr>
        <p:txBody>
          <a:bodyPr wrap="square" rtlCol="0" anchor="ctr" lIns="91440" tIns="45720" rIns="91440" bIns="45720"/>
          <a:lstStyle/>
          <a:p>
            <a:pPr algn="l"/>
            <a:r>
              <a:rPr lang="ru-RU" sz="1800" dirty="0">
                <a:b/>
                <a:solidFill>
                  <a:srgbClr val="FFFFFF"/>
                </a:solidFill>
              </a:rPr>
              <a:t>ГЛАВА 2 — ВРЕМЕННЫЕ РЯДЫ   Атрибуты датасета Power Consumption of Tetouan City</a:t>
            </a:r>
          </a:p>
        </p:txBody>
      </p:sp>
      <p:graphicFrame>
        <p:nvGraphicFramePr>
          <p:cNvPr id="4" name="Table 1"/>
          <p:cNvGraphicFramePr/>
          <p:nvPr/>
        </p:nvGraphicFramePr>
        <a:xfrm>
          <a:off x="457200" y="1371600"/>
          <a:ext cx="8229600" cy="5029200"/>
        </a:xfrm>
        <a:graphic>
          <a:graphicData uri="http://schemas.openxmlformats.org/drawingml/2006/table">
            <a:tbl xmlns:a="http://schemas.openxmlformats.org/drawingml/2006/main">
              <a:tblPr firstRow="1" bandRow="1">
                <a:tableStyleId>{5C22544A-7EE6-4342-B048-85BDC9FD1C3A}</a:tableStyleId>
              </a:tblPr>
              <a:tblGrid>
                <a:gridCol w="602165"/>
                <a:gridCol w="2007219"/>
                <a:gridCol w="2408663"/>
                <a:gridCol w="1204331"/>
                <a:gridCol w="2007219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b/>
                        </a:rPr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b/>
                        </a:rPr>
                        <a:t>Название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b/>
                        </a:rPr>
                        <a:t>Семантика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b/>
                        </a:rPr>
                        <a:t>Тип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b/>
                        </a:rPr>
                        <a:t>Диапазон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Datetime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Метка времени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datetime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2017-01-01..2017-12-30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Температура воздуха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числовой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2–40 °C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Humidity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Влажность воздуха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числовой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11–100 %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Wind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Скорость ветра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числовой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0–10 м/с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Gen. Diffuse Flows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Суммарная диффузная радиация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числовой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0–500 Вт/м²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Diffuse Flows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Диффузная радиация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числовой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0–500 Вт/м²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Zone 1 Power Consump.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Потребление зоны 1 (ЦЕЛЬ)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числовой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11 200–82 300 кВт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Zone 2 Power Consump.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Потребление зоны 2 (ЦЕЛЬ)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числовой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7 000–52 000 кВт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Zone 3 Power Consump.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Потребление зоны 3 (ЦЕЛЬ)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числовой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6 300–44 000 кВт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solidFill>
            <a:srgbClr val="1F3864"/>
          </a:solidFill>
        </p:spPr>
        <p:txBody>
          <a:bodyPr wrap="square" rtlCol="0" anchor="ctr" lIns="91440" tIns="45720" rIns="91440" bIns="45720"/>
          <a:lstStyle/>
          <a:p>
            <a:pPr algn="l"/>
            <a:r>
              <a:rPr lang="ru-RU" sz="1800" dirty="0">
                <a:b/>
                <a:solidFill>
                  <a:srgbClr val="FFFFFF"/>
                </a:solidFill>
              </a:rPr>
              <a:t>ГЛАВА 3 — ИЗОБРАЖЕНИЯ   Параметры датасета Chest X-Ray Pneumonia</a:t>
            </a:r>
          </a:p>
        </p:txBody>
      </p:sp>
      <p:graphicFrame>
        <p:nvGraphicFramePr>
          <p:cNvPr id="4" name="Table 1"/>
          <p:cNvGraphicFramePr/>
          <p:nvPr/>
        </p:nvGraphicFramePr>
        <a:xfrm>
          <a:off x="457200" y="1371600"/>
          <a:ext cx="8229600" cy="5029200"/>
        </a:xfrm>
        <a:graphic>
          <a:graphicData uri="http://schemas.openxmlformats.org/drawingml/2006/table">
            <a:tbl xmlns:a="http://schemas.openxmlformats.org/drawingml/2006/main">
              <a:tblPr firstRow="1" bandRow="1">
                <a:tableStyleId>{5C22544A-7EE6-4342-B048-85BDC9FD1C3A}</a:tableStyleId>
              </a:tblPr>
              <a:tblGrid>
                <a:gridCol w="2743200"/>
                <a:gridCol w="5486400"/>
              </a:tblGrid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b/>
                        </a:rPr>
                        <a:t>Параметр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b/>
                        </a:rPr>
                        <a:t>Описание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Метка класса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NORMAL / PNEUMONIA (бинарная)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Формат файлов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JPEG, полутоновые рентгенограммы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Разрешение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360–2916 × 313–2583 пикселей (неоднородное)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Обучающая выборка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5 216 снимков (PNEUMONIA: 3 875 / NORMAL: 1 341)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Тестовая выборка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624 снимка (PNEUMONIA: 390 / NORMAL: 234)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Валидационная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16 снимков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Источник разметки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Специалисты-радиологи Детской больницы Гуанчжоу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Ограничение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Тип пневмонии (бактер./вирус.) в имени файла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solidFill>
            <a:srgbClr val="1F3864"/>
          </a:solidFill>
        </p:spPr>
        <p:txBody>
          <a:bodyPr wrap="square" rtlCol="0" anchor="ctr" lIns="91440" tIns="45720" rIns="91440" bIns="45720"/>
          <a:lstStyle/>
          <a:p>
            <a:pPr algn="l"/>
            <a:r>
              <a:rPr lang="ru-RU" sz="1800" dirty="0">
                <a:b/>
                <a:solidFill>
                  <a:srgbClr val="FFFFFF"/>
                </a:solidFill>
              </a:rPr>
              <a:t>ГЛАВА 4 — ТЕКСТ   Атрибуты датасета BBC News Classification</a:t>
            </a:r>
          </a:p>
        </p:txBody>
      </p:sp>
      <p:graphicFrame>
        <p:nvGraphicFramePr>
          <p:cNvPr id="4" name="Table 1"/>
          <p:cNvGraphicFramePr/>
          <p:nvPr/>
        </p:nvGraphicFramePr>
        <a:xfrm>
          <a:off x="457200" y="1371600"/>
          <a:ext cx="8229600" cy="5029200"/>
        </a:xfrm>
        <a:graphic>
          <a:graphicData uri="http://schemas.openxmlformats.org/drawingml/2006/table">
            <a:tbl xmlns:a="http://schemas.openxmlformats.org/drawingml/2006/main">
              <a:tblPr firstRow="1" bandRow="1">
                <a:tableStyleId>{5C22544A-7EE6-4342-B048-85BDC9FD1C3A}</a:tableStyleId>
              </a:tblPr>
              <a:tblGrid>
                <a:gridCol w="561109"/>
                <a:gridCol w="1122218"/>
                <a:gridCol w="2618509"/>
                <a:gridCol w="935181"/>
                <a:gridCol w="2992581"/>
              </a:tblGrid>
              <a:tr h="12573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b/>
                        </a:rPr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b/>
                        </a:rPr>
                        <a:t>Название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b/>
                        </a:rPr>
                        <a:t>Семантика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b/>
                        </a:rPr>
                        <a:t>Тип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b/>
                        </a:rPr>
                        <a:t>Значения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Тематическая категория (ЦЕЛЕВАЯ)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категор.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sport / business / politics / tech / entertainment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Полный текст новостной статьи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текст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390 слов в среднем; 25 000 уник. слов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Всего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2 225 статей, 5 категорий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/>
                        <a:t>sport:511, biz:510, pol:417, tech:401, ent:386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Поиск и первичный анализ наборов данных</dc:title>
  <dc:subject>PptxGenJS Presentation</dc:subject>
  <dc:creator>Уряшев К.А.</dc:creator>
  <cp:lastModifiedBy>Уряшев К.А.</cp:lastModifiedBy>
  <cp:revision>1</cp:revision>
  <dcterms:created xsi:type="dcterms:W3CDTF">2026-06-09T17:23:39Z</dcterms:created>
  <dcterms:modified xsi:type="dcterms:W3CDTF">2026-06-09T17:23:39Z</dcterms:modified>
</cp:coreProperties>
</file>